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200746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8071" y="39357"/>
            <a:ext cx="11964602" cy="31485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l"/>
            <a:r>
              <a:rPr sz="1625" b="1">
                <a:solidFill>
                  <a:srgbClr val="333333"/>
                </a:solidFill>
                <a:latin typeface="Yu Gothic UI"/>
                <a:ea typeface="Yu Gothic UI"/>
              </a:rPr>
              <a:t>① Windows Server + .NET Framework 4.8(元のサーバー)</a:t>
            </a:r>
          </a:p>
        </p:txBody>
      </p:sp>
      <p:sp>
        <p:nvSpPr>
          <p:cNvPr id="3" name="Rectangle 2"/>
          <p:cNvSpPr/>
          <p:nvPr/>
        </p:nvSpPr>
        <p:spPr>
          <a:xfrm>
            <a:off x="728109" y="393572"/>
            <a:ext cx="1869469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Web Forms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87144" y="610037"/>
            <a:ext cx="1290671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.aspx・.ascx・.master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7144" y="806823"/>
            <a:ext cx="944573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コードビハインド</a:t>
            </a:r>
          </a:p>
        </p:txBody>
      </p:sp>
      <p:sp>
        <p:nvSpPr>
          <p:cNvPr id="6" name="Rectangle 5"/>
          <p:cNvSpPr/>
          <p:nvPr/>
        </p:nvSpPr>
        <p:spPr>
          <a:xfrm>
            <a:off x="2636935" y="393572"/>
            <a:ext cx="1062645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MVC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5971" y="610037"/>
            <a:ext cx="686291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Controller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5971" y="806823"/>
            <a:ext cx="913580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.cshtml(Razor)</a:t>
            </a:r>
          </a:p>
        </p:txBody>
      </p:sp>
      <p:sp>
        <p:nvSpPr>
          <p:cNvPr id="9" name="Rectangle 8"/>
          <p:cNvSpPr/>
          <p:nvPr/>
        </p:nvSpPr>
        <p:spPr>
          <a:xfrm>
            <a:off x="3738938" y="393572"/>
            <a:ext cx="1023288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Web API 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97974" y="610037"/>
            <a:ext cx="85675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ApiController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97974" y="806823"/>
            <a:ext cx="61913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JSON・XML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01583" y="393572"/>
            <a:ext cx="944573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ASMX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60619" y="610037"/>
            <a:ext cx="743113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.asmx(SOAP)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85515" y="393572"/>
            <a:ext cx="1062645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WCF サービス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44550" y="610037"/>
            <a:ext cx="345359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.svc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44550" y="806823"/>
            <a:ext cx="799936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serviceModel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8109" y="1062645"/>
            <a:ext cx="1869469" cy="1023288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Web Forms の部品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7144" y="1279110"/>
            <a:ext cx="1751397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System.Web.UI(ページ)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7144" y="1475896"/>
            <a:ext cx="1751397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ASP.NET AJAX(Extensions)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7144" y="1672682"/>
            <a:ext cx="1751397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Chart・Dynamic Data・Mobile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7144" y="1869469"/>
            <a:ext cx="1751397" cy="167268"/>
          </a:xfrm>
          <a:prstGeom prst="roundRect">
            <a:avLst>
              <a:gd name="adj" fmla="val 18000"/>
            </a:avLst>
          </a:prstGeom>
          <a:solidFill>
            <a:srgbClr val="FCE4EC"/>
          </a:solidFill>
          <a:ln w="19664">
            <a:solidFill>
              <a:srgbClr val="D81B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880E4F"/>
                </a:solidFill>
                <a:latin typeface="Yu Gothic UI"/>
                <a:ea typeface="Yu Gothic UI"/>
              </a:rPr>
              <a:t>バンドル(Optimization)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36935" y="1062645"/>
            <a:ext cx="1062645" cy="1023288"/>
          </a:xfrm>
          <a:prstGeom prst="rect">
            <a:avLst/>
          </a:prstGeom>
          <a:solidFill>
            <a:srgbClr val="6D9A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MVC 5(NuGet)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95971" y="1279110"/>
            <a:ext cx="944573" cy="167268"/>
          </a:xfrm>
          <a:prstGeom prst="roundRect">
            <a:avLst>
              <a:gd name="adj" fmla="val 18000"/>
            </a:avLst>
          </a:prstGeom>
          <a:solidFill>
            <a:srgbClr val="FCE4EC"/>
          </a:solidFill>
          <a:ln w="19664">
            <a:solidFill>
              <a:srgbClr val="D81B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880E4F"/>
                </a:solidFill>
                <a:latin typeface="Yu Gothic UI"/>
                <a:ea typeface="Yu Gothic UI"/>
              </a:rPr>
              <a:t>System.Web.Mvc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95971" y="1475896"/>
            <a:ext cx="944573" cy="167268"/>
          </a:xfrm>
          <a:prstGeom prst="roundRect">
            <a:avLst>
              <a:gd name="adj" fmla="val 18000"/>
            </a:avLst>
          </a:prstGeom>
          <a:solidFill>
            <a:srgbClr val="FCE4EC"/>
          </a:solidFill>
          <a:ln w="19664">
            <a:solidFill>
              <a:srgbClr val="D81B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880E4F"/>
                </a:solidFill>
                <a:latin typeface="Yu Gothic UI"/>
                <a:ea typeface="Yu Gothic UI"/>
              </a:rPr>
              <a:t>Razor・WebPages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5971" y="1672682"/>
            <a:ext cx="944573" cy="167268"/>
          </a:xfrm>
          <a:prstGeom prst="roundRect">
            <a:avLst>
              <a:gd name="adj" fmla="val 18000"/>
            </a:avLst>
          </a:prstGeom>
          <a:solidFill>
            <a:srgbClr val="FCE4EC"/>
          </a:solidFill>
          <a:ln w="19664">
            <a:solidFill>
              <a:srgbClr val="D81B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880E4F"/>
                </a:solidFill>
                <a:latin typeface="Yu Gothic UI"/>
                <a:ea typeface="Yu Gothic UI"/>
              </a:rPr>
              <a:t>AspNetWebStack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695971" y="1869469"/>
            <a:ext cx="944573" cy="167268"/>
          </a:xfrm>
          <a:prstGeom prst="roundRect">
            <a:avLst>
              <a:gd name="adj" fmla="val 18000"/>
            </a:avLst>
          </a:prstGeom>
          <a:solidFill>
            <a:srgbClr val="FCE4EC"/>
          </a:solidFill>
          <a:ln w="19664">
            <a:solidFill>
              <a:srgbClr val="D81B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880E4F"/>
                </a:solidFill>
                <a:latin typeface="Yu Gothic UI"/>
                <a:ea typeface="Yu Gothic UI"/>
              </a:rPr>
              <a:t>バンドル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38938" y="1062645"/>
            <a:ext cx="1023288" cy="1023288"/>
          </a:xfrm>
          <a:prstGeom prst="rect">
            <a:avLst/>
          </a:prstGeom>
          <a:solidFill>
            <a:srgbClr val="6D9A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Web API 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797974" y="1279110"/>
            <a:ext cx="905216" cy="167268"/>
          </a:xfrm>
          <a:prstGeom prst="roundRect">
            <a:avLst>
              <a:gd name="adj" fmla="val 18000"/>
            </a:avLst>
          </a:prstGeom>
          <a:solidFill>
            <a:srgbClr val="FCE4EC"/>
          </a:solidFill>
          <a:ln w="19664">
            <a:solidFill>
              <a:srgbClr val="D81B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880E4F"/>
                </a:solidFill>
                <a:latin typeface="Yu Gothic UI"/>
                <a:ea typeface="Yu Gothic UI"/>
              </a:rPr>
              <a:t>Web.Http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797974" y="1475896"/>
            <a:ext cx="905216" cy="167268"/>
          </a:xfrm>
          <a:prstGeom prst="roundRect">
            <a:avLst>
              <a:gd name="adj" fmla="val 18000"/>
            </a:avLst>
          </a:prstGeom>
          <a:solidFill>
            <a:srgbClr val="FCE4EC"/>
          </a:solidFill>
          <a:ln w="19664">
            <a:solidFill>
              <a:srgbClr val="D81B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880E4F"/>
                </a:solidFill>
                <a:latin typeface="Yu Gothic UI"/>
                <a:ea typeface="Yu Gothic UI"/>
              </a:rPr>
              <a:t>Http.WebHost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797974" y="1672682"/>
            <a:ext cx="905216" cy="167268"/>
          </a:xfrm>
          <a:prstGeom prst="roundRect">
            <a:avLst>
              <a:gd name="adj" fmla="val 18000"/>
            </a:avLst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Newtonsoft.Json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01583" y="1062645"/>
            <a:ext cx="944573" cy="1023288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ASMX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860619" y="1279110"/>
            <a:ext cx="826502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Web.Services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860619" y="1475896"/>
            <a:ext cx="826502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WSDL・SOAP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785515" y="1062645"/>
            <a:ext cx="1062645" cy="1023288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WCF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844550" y="1279110"/>
            <a:ext cx="944573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ServiceModel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844550" y="1475896"/>
            <a:ext cx="944573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Activation(.svc)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844550" y="1672682"/>
            <a:ext cx="944573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IIS でのホスト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887517" y="393572"/>
            <a:ext cx="3424080" cy="1692361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お客様のアプリ</a:t>
            </a:r>
          </a:p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全種類で共通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946553" y="767466"/>
            <a:ext cx="330600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Global.asax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946553" y="964252"/>
            <a:ext cx="330600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web.config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946553" y="1161038"/>
            <a:ext cx="330600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App_Code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946553" y="1357824"/>
            <a:ext cx="330600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クラスライブラリ(C#・VB)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946553" y="1554611"/>
            <a:ext cx="330600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参照する DLL・NuGet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638915" y="2085934"/>
            <a:ext cx="1672682" cy="905216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45" name="Rectangle 44"/>
          <p:cNvSpPr/>
          <p:nvPr/>
        </p:nvSpPr>
        <p:spPr>
          <a:xfrm>
            <a:off x="8638915" y="2755007"/>
            <a:ext cx="1672682" cy="19678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851" b="1">
                <a:solidFill>
                  <a:srgbClr val="FFFFFF"/>
                </a:solidFill>
                <a:latin typeface="Yu Gothic UI"/>
                <a:ea typeface="Yu Gothic UI"/>
              </a:rPr>
              <a:t>下の層も直接使う ↓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973451" y="2991150"/>
            <a:ext cx="1338146" cy="432929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47" name="Rectangle 46"/>
          <p:cNvSpPr/>
          <p:nvPr/>
        </p:nvSpPr>
        <p:spPr>
          <a:xfrm>
            <a:off x="8973451" y="3227294"/>
            <a:ext cx="1338146" cy="19678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851" b="1">
                <a:solidFill>
                  <a:srgbClr val="FFFFFF"/>
                </a:solidFill>
                <a:latin typeface="Yu Gothic UI"/>
                <a:ea typeface="Yu Gothic UI"/>
              </a:rPr>
              <a:t>直接 ↓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28109" y="2125291"/>
            <a:ext cx="6631695" cy="826502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System.Web のコア ― 全種類で共通(Microsoft)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87144" y="2341756"/>
            <a:ext cx="1693591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HttpApplication・パイプライン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510254" y="2341756"/>
            <a:ext cx="1538622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HTTP モジュール・ハンドラー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078394" y="2341756"/>
            <a:ext cx="1874388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ルーティング(System.Web.Routing)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982301" y="2341756"/>
            <a:ext cx="1254512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セッション・キャッシュ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87144" y="2538542"/>
            <a:ext cx="1977701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フォーム認証・メンバーシップ・ロール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794364" y="2538542"/>
            <a:ext cx="1362990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web.config のセクション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186872" y="2538542"/>
            <a:ext cx="2654400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実行時コンパイル(Global.asax・App_Code・ページ)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399162" y="2125291"/>
            <a:ext cx="1200395" cy="826502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アプリのデータ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458197" y="2341756"/>
            <a:ext cx="1082324" cy="167268"/>
          </a:xfrm>
          <a:prstGeom prst="roundRect">
            <a:avLst>
              <a:gd name="adj" fmla="val 18000"/>
            </a:avLst>
          </a:prstGeom>
          <a:solidFill>
            <a:srgbClr val="FCE4EC"/>
          </a:solidFill>
          <a:ln w="19664">
            <a:solidFill>
              <a:srgbClr val="D81B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880E4F"/>
                </a:solidFill>
                <a:latin typeface="Yu Gothic UI"/>
                <a:ea typeface="Yu Gothic UI"/>
              </a:rPr>
              <a:t>EF6(NuGet)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458197" y="2538542"/>
            <a:ext cx="1082324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LINQ to SQL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28109" y="2991150"/>
            <a:ext cx="8205985" cy="432929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ライブラリ ― System.Web もアプリも使う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87144" y="3207615"/>
            <a:ext cx="1574781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構成(System.Configuration)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391444" y="3207615"/>
            <a:ext cx="1724585" cy="167268"/>
          </a:xfrm>
          <a:prstGeom prst="roundRect">
            <a:avLst>
              <a:gd name="adj" fmla="val 18000"/>
            </a:avLst>
          </a:prstGeom>
          <a:solidFill>
            <a:srgbClr val="FCE4EC"/>
          </a:solidFill>
          <a:ln w="19664">
            <a:solidFill>
              <a:srgbClr val="D81B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880E4F"/>
                </a:solidFill>
                <a:latin typeface="Yu Gothic UI"/>
                <a:ea typeface="Yu Gothic UI"/>
              </a:rPr>
              <a:t>System.Drawing(.NET 版で公開)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28109" y="3463437"/>
            <a:ext cx="9583489" cy="432929"/>
          </a:xfrm>
          <a:prstGeom prst="rect">
            <a:avLst/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.NET Framework 4.8 クラスライブラリ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87144" y="3679902"/>
            <a:ext cx="459003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System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275666" y="3679902"/>
            <a:ext cx="1869223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System.Data(ADO.NET・SqlClient)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174407" y="3679902"/>
            <a:ext cx="1538622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System.Xml(XmlSerializer)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742548" y="3679902"/>
            <a:ext cx="743113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System.Core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515179" y="3679902"/>
            <a:ext cx="1709088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System.Runtime.Serialization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28109" y="3935724"/>
            <a:ext cx="9583489" cy="491965"/>
          </a:xfrm>
          <a:prstGeom prst="rect">
            <a:avLst/>
          </a:prstGeom>
          <a:solidFill>
            <a:srgbClr val="3E2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mscorlib + CLR 4(一組で動く)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87144" y="4152189"/>
            <a:ext cx="3599712" cy="167268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mscorlib: object・string・double・CultureInfo・BinaryFormatter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416374" y="4152189"/>
            <a:ext cx="2225652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CLR 4(clr.dll): JIT・GC・double の書式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28109" y="4467047"/>
            <a:ext cx="9583489" cy="551001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Windows Server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87144" y="4683512"/>
            <a:ext cx="5557489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IIS の機能(アプリケーション プール・URL Rewrite・静的ファイル・customHeaders・W3C ログ・Windows 認証)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374151" y="4683512"/>
            <a:ext cx="572647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http.sys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976317" y="4683512"/>
            <a:ext cx="345359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NTFS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7351195" y="4683512"/>
            <a:ext cx="1228684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NLS(カルチャのデータ)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8609397" y="4683512"/>
            <a:ext cx="737948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タイムゾーン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376863" y="4683512"/>
            <a:ext cx="345359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GDI+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787144" y="4880298"/>
            <a:ext cx="572647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SChannel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28109" y="5057406"/>
            <a:ext cx="9583489" cy="295179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サーバー(x64 の物理マシン・仮想マシン)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9035" y="1062645"/>
            <a:ext cx="295179" cy="3365044"/>
          </a:xfrm>
          <a:prstGeom prst="rect">
            <a:avLst/>
          </a:prstGeom>
          <a:solidFill>
            <a:srgbClr val="6D9A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 vert="eaVert"/>
          <a:lstStyle/>
          <a:p>
            <a:pPr algn="ctr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言語パック(サテライト。非公開)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93572" y="2125291"/>
            <a:ext cx="295179" cy="2302398"/>
          </a:xfrm>
          <a:prstGeom prst="rect">
            <a:avLst/>
          </a:prstGeom>
          <a:solidFill>
            <a:srgbClr val="24508C"/>
          </a:solidFill>
          <a:ln w="39329">
            <a:solidFill>
              <a:srgbClr val="F2C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 vert="eaVert"/>
          <a:lstStyle/>
          <a:p>
            <a:pPr algn="ctr"/>
            <a:r>
              <a:rPr sz="851" b="1">
                <a:solidFill>
                  <a:srgbClr val="FFFFFF"/>
                </a:solidFill>
                <a:latin typeface="Yu Gothic UI"/>
                <a:ea typeface="Yu Gothic UI"/>
              </a:rPr>
              <a:t>IIS(ネイティブ)が .NET を載せる(w3wp)</a:t>
            </a:r>
          </a:p>
          <a:p>
            <a:pPr algn="ctr"/>
            <a:r>
              <a:rPr sz="851" b="1">
                <a:solidFill>
                  <a:srgbClr val="FFFFFF"/>
                </a:solidFill>
                <a:latin typeface="Yu Gothic UI"/>
                <a:ea typeface="Yu Gothic UI"/>
              </a:rPr>
              <a:t>統合パイプラインで System.Web を呼ぶ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409991" y="393572"/>
            <a:ext cx="1731718" cy="5942944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83" name="Rectangle 82"/>
          <p:cNvSpPr/>
          <p:nvPr/>
        </p:nvSpPr>
        <p:spPr>
          <a:xfrm>
            <a:off x="10469027" y="452608"/>
            <a:ext cx="1613647" cy="1967862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開発・配置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0528063" y="669073"/>
            <a:ext cx="1495575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Visual Studio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0528063" y="865859"/>
            <a:ext cx="1495575" cy="167268"/>
          </a:xfrm>
          <a:prstGeom prst="roundRect">
            <a:avLst>
              <a:gd name="adj" fmla="val 18000"/>
            </a:avLst>
          </a:prstGeom>
          <a:solidFill>
            <a:srgbClr val="FCE4EC"/>
          </a:solidFill>
          <a:ln w="19664">
            <a:solidFill>
              <a:srgbClr val="D81B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880E4F"/>
                </a:solidFill>
                <a:latin typeface="Yu Gothic UI"/>
                <a:ea typeface="Yu Gothic UI"/>
              </a:rPr>
              <a:t>MSBuild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0528063" y="1062645"/>
            <a:ext cx="1495575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Web Deploy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0528063" y="1259431"/>
            <a:ext cx="1495575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IIS マネージャー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0528063" y="1456218"/>
            <a:ext cx="1495575" cy="167268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SQL Server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0469027" y="2479506"/>
            <a:ext cx="1613647" cy="2026898"/>
          </a:xfrm>
          <a:prstGeom prst="rect">
            <a:avLst/>
          </a:prstGeom>
          <a:solidFill>
            <a:srgbClr val="FFFFFF"/>
          </a:solidFill>
          <a:ln w="9832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333333"/>
                </a:solidFill>
                <a:latin typeface="Yu Gothic UI"/>
                <a:ea typeface="Yu Gothic UI"/>
              </a:rPr>
              <a:t>ソースの公開(項目の色と枠)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10528063" y="2735328"/>
            <a:ext cx="432929" cy="177107"/>
          </a:xfrm>
          <a:prstGeom prst="roundRect">
            <a:avLst>
              <a:gd name="adj" fmla="val 18000"/>
            </a:avLst>
          </a:prstGeom>
          <a:solidFill>
            <a:srgbClr val="E9F7EC"/>
          </a:solidFill>
          <a:ln w="19664">
            <a:solidFill>
              <a:srgbClr val="2E9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1B5E20"/>
                </a:solidFill>
                <a:latin typeface="Yu Gothic UI"/>
                <a:ea typeface="Yu Gothic UI"/>
              </a:rPr>
              <a:t>項目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1000350" y="2705810"/>
            <a:ext cx="1062645" cy="570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812" b="0">
                <a:solidFill>
                  <a:srgbClr val="333333"/>
                </a:solidFill>
                <a:latin typeface="Yu Gothic UI"/>
                <a:ea typeface="Yu Gothic UI"/>
              </a:rPr>
              <a:t>referencesource(MIT)にソースがある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10528063" y="3325687"/>
            <a:ext cx="432929" cy="177107"/>
          </a:xfrm>
          <a:prstGeom prst="roundRect">
            <a:avLst>
              <a:gd name="adj" fmla="val 18000"/>
            </a:avLst>
          </a:prstGeom>
          <a:solidFill>
            <a:srgbClr val="FCE4EC"/>
          </a:solidFill>
          <a:ln w="19664">
            <a:solidFill>
              <a:srgbClr val="D81B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880E4F"/>
                </a:solidFill>
                <a:latin typeface="Yu Gothic UI"/>
                <a:ea typeface="Yu Gothic UI"/>
              </a:rPr>
              <a:t>項目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1000350" y="3296169"/>
            <a:ext cx="1062645" cy="570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812" b="0">
                <a:solidFill>
                  <a:srgbClr val="333333"/>
                </a:solidFill>
                <a:latin typeface="Yu Gothic UI"/>
                <a:ea typeface="Yu Gothic UI"/>
              </a:rPr>
              <a:t>Microsoft が別に公開(GitHub。Apache 2.0・MIT)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10528063" y="3916045"/>
            <a:ext cx="432929" cy="177107"/>
          </a:xfrm>
          <a:prstGeom prst="roundRect">
            <a:avLst>
              <a:gd name="adj" fmla="val 18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666666"/>
                </a:solidFill>
                <a:latin typeface="Yu Gothic UI"/>
                <a:ea typeface="Yu Gothic UI"/>
              </a:rPr>
              <a:t>項目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1000350" y="3886527"/>
            <a:ext cx="1062645" cy="570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812" b="0">
                <a:solidFill>
                  <a:srgbClr val="333333"/>
                </a:solidFill>
                <a:latin typeface="Yu Gothic UI"/>
                <a:ea typeface="Yu Gothic UI"/>
              </a:rPr>
              <a:t>ソースは非公開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449348" y="4545761"/>
            <a:ext cx="1653004" cy="18694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812" b="0">
                <a:solidFill>
                  <a:srgbClr val="333333"/>
                </a:solidFill>
                <a:latin typeface="Yu Gothic UI"/>
                <a:ea typeface="Yu Gothic UI"/>
              </a:rPr>
              <a:t>見方: 上下に接する箱は、上が下を直接使う(接しなければ使わない。どれもが使うクラスライブラリと CoreLib へは、層を飛ばしても使う)。縦に並ぶ箱は、その上のアプリの種類が使う部品。右のアプリは、段ごとに使う層に載る。左の縦の帯は、いくつもの層に付くもの(プロセスを載せるホストも)。黄色の印は要求を受ける HTTP サーバー。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750" y="6572659"/>
            <a:ext cx="137750" cy="137750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98" name="Rectangle 97"/>
          <p:cNvSpPr/>
          <p:nvPr/>
        </p:nvSpPr>
        <p:spPr>
          <a:xfrm>
            <a:off x="295179" y="6533302"/>
            <a:ext cx="983931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お客様のアプリ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97182" y="6572659"/>
            <a:ext cx="137750" cy="137750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00" name="Rectangle 99"/>
          <p:cNvSpPr/>
          <p:nvPr/>
        </p:nvSpPr>
        <p:spPr>
          <a:xfrm>
            <a:off x="1554611" y="6533302"/>
            <a:ext cx="1780915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Microsoft(.NET Framework)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3453598" y="6572659"/>
            <a:ext cx="137750" cy="137750"/>
          </a:xfrm>
          <a:prstGeom prst="rect">
            <a:avLst/>
          </a:prstGeom>
          <a:solidFill>
            <a:srgbClr val="6D9A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02" name="Rectangle 101"/>
          <p:cNvSpPr/>
          <p:nvPr/>
        </p:nvSpPr>
        <p:spPr>
          <a:xfrm>
            <a:off x="3611027" y="6533302"/>
            <a:ext cx="1904890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Microsoft(NuGet・言語パック)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633989" y="6572659"/>
            <a:ext cx="137750" cy="137750"/>
          </a:xfrm>
          <a:prstGeom prst="rect">
            <a:avLst/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04" name="Rectangle 103"/>
          <p:cNvSpPr/>
          <p:nvPr/>
        </p:nvSpPr>
        <p:spPr>
          <a:xfrm>
            <a:off x="5791418" y="6533302"/>
            <a:ext cx="1721879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.NET Framework の実行環境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7631369" y="6572659"/>
            <a:ext cx="137750" cy="137750"/>
          </a:xfrm>
          <a:prstGeom prst="rect">
            <a:avLst/>
          </a:prstGeom>
          <a:solidFill>
            <a:srgbClr val="2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06" name="Rectangle 105"/>
          <p:cNvSpPr/>
          <p:nvPr/>
        </p:nvSpPr>
        <p:spPr>
          <a:xfrm>
            <a:off x="7788798" y="6533302"/>
            <a:ext cx="1214171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Web サーバー(IIS)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9121041" y="6572659"/>
            <a:ext cx="137750" cy="137750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08" name="Rectangle 107"/>
          <p:cNvSpPr/>
          <p:nvPr/>
        </p:nvSpPr>
        <p:spPr>
          <a:xfrm>
            <a:off x="9278470" y="6533302"/>
            <a:ext cx="287307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8071" y="39357"/>
            <a:ext cx="11964602" cy="31485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l"/>
            <a:r>
              <a:rPr sz="1625" b="1">
                <a:solidFill>
                  <a:srgbClr val="333333"/>
                </a:solidFill>
                <a:latin typeface="Yu Gothic UI"/>
                <a:ea typeface="Yu Gothic UI"/>
              </a:rPr>
              <a:t>② Windows / Linux サーバー + .NET 10(そのまま移すと)</a:t>
            </a:r>
          </a:p>
        </p:txBody>
      </p:sp>
      <p:sp>
        <p:nvSpPr>
          <p:cNvPr id="3" name="Rectangle 2"/>
          <p:cNvSpPr/>
          <p:nvPr/>
        </p:nvSpPr>
        <p:spPr>
          <a:xfrm>
            <a:off x="728109" y="393572"/>
            <a:ext cx="1869469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Web Forms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87144" y="610037"/>
            <a:ext cx="531322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動かない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7144" y="806823"/>
            <a:ext cx="1249346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作り直し(Blazor など)</a:t>
            </a:r>
          </a:p>
        </p:txBody>
      </p:sp>
      <p:sp>
        <p:nvSpPr>
          <p:cNvPr id="6" name="Rectangle 5"/>
          <p:cNvSpPr/>
          <p:nvPr/>
        </p:nvSpPr>
        <p:spPr>
          <a:xfrm>
            <a:off x="2636935" y="393572"/>
            <a:ext cx="1062645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MVC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5971" y="610037"/>
            <a:ext cx="732782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Core MVC に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5971" y="806823"/>
            <a:ext cx="531322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書き直し</a:t>
            </a:r>
          </a:p>
        </p:txBody>
      </p:sp>
      <p:sp>
        <p:nvSpPr>
          <p:cNvPr id="9" name="Rectangle 8"/>
          <p:cNvSpPr/>
          <p:nvPr/>
        </p:nvSpPr>
        <p:spPr>
          <a:xfrm>
            <a:off x="3738938" y="393572"/>
            <a:ext cx="1023288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Web API 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97974" y="610037"/>
            <a:ext cx="505494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Core に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97974" y="806823"/>
            <a:ext cx="531322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書き直し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01583" y="393572"/>
            <a:ext cx="944573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ASMX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60619" y="610037"/>
            <a:ext cx="531322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動かない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85515" y="393572"/>
            <a:ext cx="1062645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WCF サービス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44550" y="610037"/>
            <a:ext cx="882586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CoreWCF に移す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8109" y="1062645"/>
            <a:ext cx="1869469" cy="1082324"/>
          </a:xfrm>
          <a:prstGeom prst="rect">
            <a:avLst/>
          </a:prstGeom>
          <a:solidFill>
            <a:srgbClr val="FFFFFF"/>
          </a:solidFill>
          <a:ln w="19664">
            <a:solidFill>
              <a:srgbClr val="D32F2F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D32F2F"/>
                </a:solidFill>
                <a:latin typeface="Yu Gothic UI"/>
                <a:ea typeface="Yu Gothic UI"/>
              </a:rPr>
              <a:t>System.Web.UI は無い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7144" y="1279110"/>
            <a:ext cx="1751397" cy="167268"/>
          </a:xfrm>
          <a:prstGeom prst="roundRect">
            <a:avLst>
              <a:gd name="adj" fmla="val 18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AJAX・Chart・Dynamic Data・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7144" y="1475896"/>
            <a:ext cx="1751397" cy="167268"/>
          </a:xfrm>
          <a:prstGeom prst="roundRect">
            <a:avLst>
              <a:gd name="adj" fmla="val 18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Mobile・バンドルも無い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636935" y="1062645"/>
            <a:ext cx="1062645" cy="1082324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Core MVC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695971" y="1279110"/>
            <a:ext cx="944573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Razor(新しい版)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95971" y="1475896"/>
            <a:ext cx="944573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バンドルは別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738938" y="1062645"/>
            <a:ext cx="1023288" cy="1082324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ASP.NET Core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97974" y="1279110"/>
            <a:ext cx="905216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Minimal API など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97974" y="1475896"/>
            <a:ext cx="905216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Text.Json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01583" y="1062645"/>
            <a:ext cx="944573" cy="1082324"/>
          </a:xfrm>
          <a:prstGeom prst="rect">
            <a:avLst/>
          </a:prstGeom>
          <a:solidFill>
            <a:srgbClr val="FFFFFF"/>
          </a:solidFill>
          <a:ln w="19664">
            <a:solidFill>
              <a:srgbClr val="D32F2F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D32F2F"/>
                </a:solidFill>
                <a:latin typeface="Yu Gothic UI"/>
                <a:ea typeface="Yu Gothic UI"/>
              </a:rPr>
              <a:t>ASMX は無い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785515" y="1062645"/>
            <a:ext cx="1062645" cy="1082324"/>
          </a:xfrm>
          <a:prstGeom prst="rect">
            <a:avLst/>
          </a:prstGeom>
          <a:solidFill>
            <a:srgbClr val="6D9A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CoreWCF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844550" y="1279110"/>
            <a:ext cx="944573" cy="167268"/>
          </a:xfrm>
          <a:prstGeom prst="roundRect">
            <a:avLst>
              <a:gd name="adj" fmla="val 18000"/>
            </a:avLst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.svc・basicHttp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44550" y="1475896"/>
            <a:ext cx="944573" cy="167268"/>
          </a:xfrm>
          <a:prstGeom prst="roundRect">
            <a:avLst>
              <a:gd name="adj" fmla="val 18000"/>
            </a:avLst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一部の機能は無い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87517" y="393572"/>
            <a:ext cx="3424080" cy="1751397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お客様のアプリ</a:t>
            </a:r>
          </a:p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全種類で共通(作り直し)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46553" y="767466"/>
            <a:ext cx="330600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Global.asax → Program.cs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946553" y="964252"/>
            <a:ext cx="330600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web.config → JSON 構成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946553" y="1161038"/>
            <a:ext cx="330600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App_Code は動かない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946553" y="1357824"/>
            <a:ext cx="330600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ライブラリを .NET 向けに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38915" y="2144969"/>
            <a:ext cx="1672682" cy="106264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8638915" y="3010829"/>
            <a:ext cx="1672682" cy="19678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851" b="1">
                <a:solidFill>
                  <a:srgbClr val="FFFFFF"/>
                </a:solidFill>
                <a:latin typeface="Yu Gothic UI"/>
                <a:ea typeface="Yu Gothic UI"/>
              </a:rPr>
              <a:t>直接 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28109" y="2184327"/>
            <a:ext cx="6631695" cy="1023288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ASP.NET Core ― 全種類の土台(System.Web とは別物。System.Web のコアは無い)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87144" y="2400791"/>
            <a:ext cx="1740082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Kestrel(.NET の上のライブラリ)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556745" y="2400791"/>
            <a:ext cx="737948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ミドルウェア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324211" y="2400791"/>
            <a:ext cx="954905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ルーティング(新)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08634" y="2400791"/>
            <a:ext cx="1368156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セッション(仕組みが違う)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706308" y="2400791"/>
            <a:ext cx="1280340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Cookie 認証・Identity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87144" y="2597578"/>
            <a:ext cx="1347493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構成(appsettings.json)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164156" y="2597578"/>
            <a:ext cx="1151199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実行時コンパイル無し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490335" y="2223684"/>
            <a:ext cx="1656448" cy="196786"/>
          </a:xfrm>
          <a:prstGeom prst="roundRect">
            <a:avLst>
              <a:gd name="adj" fmla="val 18000"/>
            </a:avLst>
          </a:prstGeom>
          <a:solidFill>
            <a:srgbClr val="F2C200"/>
          </a:solidFill>
          <a:ln w="14748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ctr"/>
            <a:r>
              <a:rPr sz="851" b="1">
                <a:solidFill>
                  <a:srgbClr val="333333"/>
                </a:solidFill>
                <a:latin typeface="Yu Gothic UI"/>
                <a:ea typeface="Yu Gothic UI"/>
              </a:rPr>
              <a:t>HTTP サーバー(要求を受ける)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99162" y="2184327"/>
            <a:ext cx="1200395" cy="1023288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.NET のライブラリ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458197" y="2400791"/>
            <a:ext cx="1082324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SqlClient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458197" y="2597578"/>
            <a:ext cx="1082324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EF Core・EF6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458197" y="2794364"/>
            <a:ext cx="1082324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Drawing.Common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458197" y="2991150"/>
            <a:ext cx="1082324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LINQ to SQL 無し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28109" y="3246972"/>
            <a:ext cx="9583489" cy="432929"/>
          </a:xfrm>
          <a:prstGeom prst="rect">
            <a:avLst/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.NET 10 クラスライブラリ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87144" y="3463437"/>
            <a:ext cx="1368156" cy="167268"/>
          </a:xfrm>
          <a:prstGeom prst="roundRect">
            <a:avLst>
              <a:gd name="adj" fmla="val 18000"/>
            </a:avLst>
          </a:prstGeom>
          <a:solidFill>
            <a:srgbClr val="EF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System.Data(DataTable)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184819" y="3463437"/>
            <a:ext cx="1538622" cy="167268"/>
          </a:xfrm>
          <a:prstGeom prst="roundRect">
            <a:avLst>
              <a:gd name="adj" fmla="val 18000"/>
            </a:avLst>
          </a:prstGeom>
          <a:solidFill>
            <a:srgbClr val="EF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System.Xml(XmlSerializer)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752959" y="3463437"/>
            <a:ext cx="1027224" cy="167268"/>
          </a:xfrm>
          <a:prstGeom prst="roundRect">
            <a:avLst>
              <a:gd name="adj" fmla="val 18000"/>
            </a:avLst>
          </a:prstGeom>
          <a:solidFill>
            <a:srgbClr val="EF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System.Text.Json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809701" y="3463437"/>
            <a:ext cx="970402" cy="167268"/>
          </a:xfrm>
          <a:prstGeom prst="roundRect">
            <a:avLst>
              <a:gd name="adj" fmla="val 18000"/>
            </a:avLst>
          </a:prstGeom>
          <a:solidFill>
            <a:srgbClr val="EF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System.Net.Http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809621" y="3463437"/>
            <a:ext cx="1600609" cy="167268"/>
          </a:xfrm>
          <a:prstGeom prst="roundRect">
            <a:avLst>
              <a:gd name="adj" fmla="val 18000"/>
            </a:avLst>
          </a:prstGeom>
          <a:solidFill>
            <a:srgbClr val="EF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BinaryFormatter(削除・例外)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28109" y="3719259"/>
            <a:ext cx="9583489" cy="491965"/>
          </a:xfrm>
          <a:prstGeom prst="rect">
            <a:avLst/>
          </a:prstGeom>
          <a:solidFill>
            <a:srgbClr val="3E2470"/>
          </a:solidFill>
          <a:ln w="39329">
            <a:solidFill>
              <a:srgbClr val="F2C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System.Private.CoreLib + CoreCLR(一組)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87144" y="3935724"/>
            <a:ext cx="2587246" cy="167268"/>
          </a:xfrm>
          <a:prstGeom prst="roundRect">
            <a:avLst>
              <a:gd name="adj" fmla="val 18000"/>
            </a:avLst>
          </a:prstGeom>
          <a:solidFill>
            <a:srgbClr val="E8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CoreLib: object・string・double・CultureInfo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403909" y="3935724"/>
            <a:ext cx="2483934" cy="167268"/>
          </a:xfrm>
          <a:prstGeom prst="roundRect">
            <a:avLst>
              <a:gd name="adj" fmla="val 18000"/>
            </a:avLst>
          </a:prstGeom>
          <a:solidFill>
            <a:srgbClr val="E8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double の書式・Parse・カルチャは .NET の動き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776665" y="3768456"/>
            <a:ext cx="1436539" cy="196786"/>
          </a:xfrm>
          <a:prstGeom prst="roundRect">
            <a:avLst>
              <a:gd name="adj" fmla="val 18000"/>
            </a:avLst>
          </a:prstGeom>
          <a:solidFill>
            <a:srgbClr val="D32F2F"/>
          </a:solidFill>
          <a:ln w="14748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ctr"/>
            <a:r>
              <a:rPr sz="851" b="1">
                <a:solidFill>
                  <a:srgbClr val="FFFFFF"/>
                </a:solidFill>
                <a:latin typeface="Yu Gothic UI"/>
                <a:ea typeface="Yu Gothic UI"/>
              </a:rPr>
              <a:t>例外: 差し替え不可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28109" y="4250582"/>
            <a:ext cx="4791744" cy="649394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Windows Server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87144" y="4467047"/>
            <a:ext cx="2365124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IIS + ANCM(Kestrel に転送・.NET を載せる)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181787" y="4467047"/>
            <a:ext cx="345359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NTFS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556665" y="4467047"/>
            <a:ext cx="882586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NLS または ICU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468769" y="4467047"/>
            <a:ext cx="737948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タイムゾーン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87144" y="4663833"/>
            <a:ext cx="345359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GDI+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559210" y="4250582"/>
            <a:ext cx="4752387" cy="649394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Linux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618246" y="4467047"/>
            <a:ext cx="960070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systemd・Docker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607835" y="4467047"/>
            <a:ext cx="2034523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nginx・Apache(任意。Kestrel に転送)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618246" y="4663833"/>
            <a:ext cx="1662597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ext4・xfs(大文字小文字を区別)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310362" y="4663833"/>
            <a:ext cx="288537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ICU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628418" y="4663833"/>
            <a:ext cx="1125371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IANA のタイムゾーン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783307" y="4663833"/>
            <a:ext cx="608807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GDI+ なし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28109" y="4939334"/>
            <a:ext cx="9583489" cy="295179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サーバー・コンテナ・クラウド(x64・ARM64)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9035" y="1062645"/>
            <a:ext cx="295179" cy="3148579"/>
          </a:xfrm>
          <a:prstGeom prst="rect">
            <a:avLst/>
          </a:prstGeom>
          <a:solidFill>
            <a:srgbClr val="FFFFFF"/>
          </a:solidFill>
          <a:ln w="19664">
            <a:solidFill>
              <a:srgbClr val="D32F2F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 vert="eaVert"/>
          <a:lstStyle/>
          <a:p>
            <a:pPr algn="ctr"/>
            <a:r>
              <a:rPr sz="929" b="1">
                <a:solidFill>
                  <a:srgbClr val="D32F2F"/>
                </a:solidFill>
                <a:latin typeface="Yu Gothic UI"/>
                <a:ea typeface="Yu Gothic UI"/>
              </a:rPr>
              <a:t>言語パックは無い(英語)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93572" y="2184327"/>
            <a:ext cx="295179" cy="2026898"/>
          </a:xfrm>
          <a:prstGeom prst="rect">
            <a:avLst/>
          </a:prstGeom>
          <a:solidFill>
            <a:srgbClr val="2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 vert="eaVert"/>
          <a:lstStyle/>
          <a:p>
            <a:pPr algn="ctr"/>
            <a:r>
              <a:rPr sz="851" b="1">
                <a:solidFill>
                  <a:srgbClr val="FFFFFF"/>
                </a:solidFill>
                <a:latin typeface="Yu Gothic UI"/>
                <a:ea typeface="Yu Gothic UI"/>
              </a:rPr>
              <a:t>プロセスを載せる</a:t>
            </a:r>
          </a:p>
          <a:p>
            <a:pPr algn="ctr"/>
            <a:r>
              <a:rPr sz="851" b="1">
                <a:solidFill>
                  <a:srgbClr val="FFFFFF"/>
                </a:solidFill>
                <a:latin typeface="Yu Gothic UI"/>
                <a:ea typeface="Yu Gothic UI"/>
              </a:rPr>
              <a:t>IIS・systemd・Docker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409991" y="393572"/>
            <a:ext cx="1731718" cy="5942944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77" name="Rectangle 76"/>
          <p:cNvSpPr/>
          <p:nvPr/>
        </p:nvSpPr>
        <p:spPr>
          <a:xfrm>
            <a:off x="10469027" y="452608"/>
            <a:ext cx="1613647" cy="3935724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開発・配置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0528063" y="669073"/>
            <a:ext cx="1495575" cy="167268"/>
          </a:xfrm>
          <a:prstGeom prst="roundRect">
            <a:avLst>
              <a:gd name="adj" fmla="val 18000"/>
            </a:avLst>
          </a:prstGeom>
          <a:solidFill>
            <a:srgbClr val="EB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Visual Studio・VS Code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10528063" y="865859"/>
            <a:ext cx="1495575" cy="167268"/>
          </a:xfrm>
          <a:prstGeom prst="roundRect">
            <a:avLst>
              <a:gd name="adj" fmla="val 18000"/>
            </a:avLst>
          </a:prstGeom>
          <a:solidFill>
            <a:srgbClr val="EB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dotnet CLI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10528063" y="1062645"/>
            <a:ext cx="1495575" cy="167268"/>
          </a:xfrm>
          <a:prstGeom prst="roundRect">
            <a:avLst>
              <a:gd name="adj" fmla="val 18000"/>
            </a:avLst>
          </a:prstGeom>
          <a:solidFill>
            <a:srgbClr val="EB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Docker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10528063" y="1259431"/>
            <a:ext cx="1495575" cy="167268"/>
          </a:xfrm>
          <a:prstGeom prst="roundRect">
            <a:avLst>
              <a:gd name="adj" fmla="val 18000"/>
            </a:avLst>
          </a:prstGeom>
          <a:solidFill>
            <a:srgbClr val="EB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GitHub Actions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449348" y="4447368"/>
            <a:ext cx="1653004" cy="18694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812" b="0">
                <a:solidFill>
                  <a:srgbClr val="333333"/>
                </a:solidFill>
                <a:latin typeface="Yu Gothic UI"/>
                <a:ea typeface="Yu Gothic UI"/>
              </a:rPr>
              <a:t>見方: 上下に接する箱は、上が下を直接使う(接しなければ使わない。どれもが使うクラスライブラリと CoreLib へは、層を飛ばしても使う)。縦に並ぶ箱は、その上のアプリの種類が使う部品。右のアプリは、段ごとに使う層に載る。左の縦の帯は、いくつもの層に付くもの(プロセスを載せるホストも)。黄色の印は要求を受ける HTTP サーバー。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750" y="6572659"/>
            <a:ext cx="137750" cy="137750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84" name="Rectangle 83"/>
          <p:cNvSpPr/>
          <p:nvPr/>
        </p:nvSpPr>
        <p:spPr>
          <a:xfrm>
            <a:off x="295179" y="6533302"/>
            <a:ext cx="983931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お客様のアプリ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397182" y="6572659"/>
            <a:ext cx="137750" cy="137750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86" name="Rectangle 85"/>
          <p:cNvSpPr/>
          <p:nvPr/>
        </p:nvSpPr>
        <p:spPr>
          <a:xfrm>
            <a:off x="1554611" y="6533302"/>
            <a:ext cx="741884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Microsoft</a:t>
            </a:r>
          </a:p>
        </p:txBody>
      </p:sp>
      <p:sp>
        <p:nvSpPr>
          <p:cNvPr id="87" name="Rectangle 86"/>
          <p:cNvSpPr/>
          <p:nvPr/>
        </p:nvSpPr>
        <p:spPr>
          <a:xfrm>
            <a:off x="2414567" y="6572659"/>
            <a:ext cx="137750" cy="137750"/>
          </a:xfrm>
          <a:prstGeom prst="rect">
            <a:avLst/>
          </a:prstGeom>
          <a:solidFill>
            <a:srgbClr val="6D9A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88" name="Rectangle 87"/>
          <p:cNvSpPr/>
          <p:nvPr/>
        </p:nvSpPr>
        <p:spPr>
          <a:xfrm>
            <a:off x="2571995" y="6533302"/>
            <a:ext cx="865859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コミュニティ</a:t>
            </a:r>
          </a:p>
        </p:txBody>
      </p:sp>
      <p:sp>
        <p:nvSpPr>
          <p:cNvPr id="89" name="Rectangle 88"/>
          <p:cNvSpPr/>
          <p:nvPr/>
        </p:nvSpPr>
        <p:spPr>
          <a:xfrm>
            <a:off x="3555927" y="6572659"/>
            <a:ext cx="137750" cy="137750"/>
          </a:xfrm>
          <a:prstGeom prst="rect">
            <a:avLst/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90" name="Rectangle 89"/>
          <p:cNvSpPr/>
          <p:nvPr/>
        </p:nvSpPr>
        <p:spPr>
          <a:xfrm>
            <a:off x="3713356" y="6533302"/>
            <a:ext cx="1072484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.NET の実行環境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903912" y="6572659"/>
            <a:ext cx="137750" cy="137750"/>
          </a:xfrm>
          <a:prstGeom prst="rect">
            <a:avLst/>
          </a:prstGeom>
          <a:solidFill>
            <a:srgbClr val="3E2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92" name="Rectangle 91"/>
          <p:cNvSpPr/>
          <p:nvPr/>
        </p:nvSpPr>
        <p:spPr>
          <a:xfrm>
            <a:off x="5061341" y="6533302"/>
            <a:ext cx="2235491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CoreLib + ランタイム(差し替え不可)</a:t>
            </a:r>
          </a:p>
        </p:txBody>
      </p:sp>
      <p:sp>
        <p:nvSpPr>
          <p:cNvPr id="93" name="Rectangle 92"/>
          <p:cNvSpPr/>
          <p:nvPr/>
        </p:nvSpPr>
        <p:spPr>
          <a:xfrm>
            <a:off x="7414905" y="6572659"/>
            <a:ext cx="137750" cy="137750"/>
          </a:xfrm>
          <a:prstGeom prst="rect">
            <a:avLst/>
          </a:prstGeom>
          <a:solidFill>
            <a:srgbClr val="2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94" name="Rectangle 93"/>
          <p:cNvSpPr/>
          <p:nvPr/>
        </p:nvSpPr>
        <p:spPr>
          <a:xfrm>
            <a:off x="7572334" y="6533302"/>
            <a:ext cx="1102002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プロセスのホスト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792408" y="6572659"/>
            <a:ext cx="137750" cy="137750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96" name="Rectangle 95"/>
          <p:cNvSpPr/>
          <p:nvPr/>
        </p:nvSpPr>
        <p:spPr>
          <a:xfrm>
            <a:off x="8949837" y="6533302"/>
            <a:ext cx="287307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8071" y="39357"/>
            <a:ext cx="11964602" cy="31485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l"/>
            <a:r>
              <a:rPr sz="1625" b="1">
                <a:solidFill>
                  <a:srgbClr val="333333"/>
                </a:solidFill>
                <a:latin typeface="Yu Gothic UI"/>
                <a:ea typeface="Yu Gothic UI"/>
              </a:rPr>
              <a:t>③ Windows / Linux サーバー + FrameworkOnCore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28109" y="393572"/>
            <a:ext cx="1869469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Web Forms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87144" y="610037"/>
            <a:ext cx="1290671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.aspx・.ascx・.master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7144" y="806823"/>
            <a:ext cx="944573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コードビハインド</a:t>
            </a:r>
          </a:p>
        </p:txBody>
      </p:sp>
      <p:sp>
        <p:nvSpPr>
          <p:cNvPr id="6" name="Rectangle 5"/>
          <p:cNvSpPr/>
          <p:nvPr/>
        </p:nvSpPr>
        <p:spPr>
          <a:xfrm>
            <a:off x="2636935" y="393572"/>
            <a:ext cx="1062645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MVC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5971" y="610037"/>
            <a:ext cx="686291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Controller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5971" y="806823"/>
            <a:ext cx="913580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.cshtml(Razor)</a:t>
            </a:r>
          </a:p>
        </p:txBody>
      </p:sp>
      <p:sp>
        <p:nvSpPr>
          <p:cNvPr id="9" name="Rectangle 8"/>
          <p:cNvSpPr/>
          <p:nvPr/>
        </p:nvSpPr>
        <p:spPr>
          <a:xfrm>
            <a:off x="3738938" y="393572"/>
            <a:ext cx="1023288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Web API 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97974" y="610037"/>
            <a:ext cx="85675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ApiController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97974" y="806823"/>
            <a:ext cx="61913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JSON・XML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01583" y="393572"/>
            <a:ext cx="944573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ASMX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60619" y="610037"/>
            <a:ext cx="743113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.asmx(SOAP)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85515" y="393572"/>
            <a:ext cx="1062645" cy="62971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WCF サービス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44550" y="610037"/>
            <a:ext cx="345359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.svc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44550" y="806823"/>
            <a:ext cx="799936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serviceModel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8109" y="1062645"/>
            <a:ext cx="1869469" cy="1023288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FrameworkOnCore(移植)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7144" y="1279110"/>
            <a:ext cx="1751397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System.Web.UI(ページ)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7144" y="1475896"/>
            <a:ext cx="1751397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ASP.NET AJAX(Extensions)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7144" y="1672682"/>
            <a:ext cx="1751397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Chart・Dynamic Data・Mobile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7144" y="1869469"/>
            <a:ext cx="1751397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バンドル(Optimization)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36935" y="1062645"/>
            <a:ext cx="1062645" cy="1023288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MVC 5(移植)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95971" y="1279110"/>
            <a:ext cx="944573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System.Web.Mvc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95971" y="1475896"/>
            <a:ext cx="944573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Razor・WebPages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5971" y="1672682"/>
            <a:ext cx="944573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AspNetWebStack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695971" y="1869469"/>
            <a:ext cx="944573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バンドル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38938" y="1062645"/>
            <a:ext cx="1023288" cy="1023288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Web API 2(移植)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797974" y="1279110"/>
            <a:ext cx="905216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Web.Http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797974" y="1475896"/>
            <a:ext cx="905216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Http.WebHost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797974" y="1672682"/>
            <a:ext cx="905216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Newtonsoft.Json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01583" y="1062645"/>
            <a:ext cx="944573" cy="1023288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ASMX(移植)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860619" y="1279110"/>
            <a:ext cx="826502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Web.Services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860619" y="1475896"/>
            <a:ext cx="826502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WSDL・SOAP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785515" y="1062645"/>
            <a:ext cx="1062645" cy="1023288"/>
          </a:xfrm>
          <a:prstGeom prst="rect">
            <a:avLst/>
          </a:prstGeom>
          <a:solidFill>
            <a:srgbClr val="E05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CoreWCF + FOC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844550" y="1279110"/>
            <a:ext cx="944573" cy="167268"/>
          </a:xfrm>
          <a:prstGeom prst="roundRect">
            <a:avLst>
              <a:gd name="adj" fmla="val 18000"/>
            </a:avLst>
          </a:prstGeom>
          <a:solidFill>
            <a:srgbClr val="FB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CoreWCF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844550" y="1475896"/>
            <a:ext cx="944573" cy="167268"/>
          </a:xfrm>
          <a:prstGeom prst="roundRect">
            <a:avLst>
              <a:gd name="adj" fmla="val 18000"/>
            </a:avLst>
          </a:prstGeom>
          <a:solidFill>
            <a:srgbClr val="FB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.svc の構成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844550" y="1672682"/>
            <a:ext cx="944573" cy="167268"/>
          </a:xfrm>
          <a:prstGeom prst="roundRect">
            <a:avLst>
              <a:gd name="adj" fmla="val 18000"/>
            </a:avLst>
          </a:prstGeom>
          <a:solidFill>
            <a:srgbClr val="FB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ASP.NET 互換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887517" y="393572"/>
            <a:ext cx="3424080" cy="1692361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お客様のアプリ</a:t>
            </a:r>
          </a:p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全種類で共通(ほぼそのまま)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946553" y="767466"/>
            <a:ext cx="330600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Global.asax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946553" y="964252"/>
            <a:ext cx="330600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web.config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946553" y="1161038"/>
            <a:ext cx="330600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App_Code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946553" y="1357824"/>
            <a:ext cx="330600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クラスライブラリ(C#・VB)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946553" y="1554611"/>
            <a:ext cx="3306008" cy="167268"/>
          </a:xfrm>
          <a:prstGeom prst="roundRect">
            <a:avLst>
              <a:gd name="adj" fmla="val 18000"/>
            </a:avLst>
          </a:prstGeom>
          <a:solidFill>
            <a:srgbClr val="FE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参照する DLL(付け替え)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638915" y="2085934"/>
            <a:ext cx="1672682" cy="708430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45" name="Rectangle 44"/>
          <p:cNvSpPr/>
          <p:nvPr/>
        </p:nvSpPr>
        <p:spPr>
          <a:xfrm>
            <a:off x="8638915" y="2558220"/>
            <a:ext cx="1672682" cy="19678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851" b="1">
                <a:solidFill>
                  <a:srgbClr val="FFFFFF"/>
                </a:solidFill>
                <a:latin typeface="Yu Gothic UI"/>
                <a:ea typeface="Yu Gothic UI"/>
              </a:rPr>
              <a:t>下の層も直接使う ↓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973451" y="2794364"/>
            <a:ext cx="1338146" cy="472286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47" name="Rectangle 46"/>
          <p:cNvSpPr/>
          <p:nvPr/>
        </p:nvSpPr>
        <p:spPr>
          <a:xfrm>
            <a:off x="8973451" y="3069865"/>
            <a:ext cx="1338146" cy="19678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851" b="1">
                <a:solidFill>
                  <a:srgbClr val="FFFFFF"/>
                </a:solidFill>
                <a:latin typeface="Yu Gothic UI"/>
                <a:ea typeface="Yu Gothic UI"/>
              </a:rPr>
              <a:t>Compat ↓(違う所だけ)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036097" y="3266651"/>
            <a:ext cx="275500" cy="1023288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 vert="eaVert"/>
          <a:lstStyle/>
          <a:p>
            <a:pPr algn="ctr"/>
            <a:r>
              <a:rPr sz="774" b="1">
                <a:solidFill>
                  <a:srgbClr val="FFFFFF"/>
                </a:solidFill>
                <a:latin typeface="Yu Gothic UI"/>
                <a:ea typeface="Yu Gothic UI"/>
              </a:rPr>
              <a:t>直接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973451" y="3306008"/>
            <a:ext cx="1023288" cy="983931"/>
          </a:xfrm>
          <a:prstGeom prst="rect">
            <a:avLst/>
          </a:prstGeom>
          <a:solidFill>
            <a:srgbClr val="3AA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851" b="1">
                <a:solidFill>
                  <a:srgbClr val="FFFFFF"/>
                </a:solidFill>
                <a:latin typeface="Yu Gothic UI"/>
                <a:ea typeface="Yu Gothic UI"/>
              </a:rPr>
              <a:t>FrameworkOnCore</a:t>
            </a:r>
          </a:p>
          <a:p>
            <a:pPr algn="l"/>
            <a:r>
              <a:rPr sz="851" b="1">
                <a:solidFill>
                  <a:srgbClr val="FFFFFF"/>
                </a:solidFill>
                <a:latin typeface="Yu Gothic UI"/>
                <a:ea typeface="Yu Gothic UI"/>
              </a:rPr>
              <a:t>.Compat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032487" y="3660223"/>
            <a:ext cx="905216" cy="167268"/>
          </a:xfrm>
          <a:prstGeom prst="roundRect">
            <a:avLst>
              <a:gd name="adj" fmla="val 18000"/>
            </a:avLst>
          </a:prstGeom>
          <a:solidFill>
            <a:srgbClr val="E7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数値・カルチャ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032487" y="3857010"/>
            <a:ext cx="905216" cy="167268"/>
          </a:xfrm>
          <a:prstGeom prst="roundRect">
            <a:avLst>
              <a:gd name="adj" fmla="val 18000"/>
            </a:avLst>
          </a:prstGeom>
          <a:solidFill>
            <a:srgbClr val="E7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ファイル・VB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032487" y="4053796"/>
            <a:ext cx="905216" cy="167268"/>
          </a:xfrm>
          <a:prstGeom prst="roundRect">
            <a:avLst>
              <a:gd name="adj" fmla="val 18000"/>
            </a:avLst>
          </a:prstGeom>
          <a:solidFill>
            <a:srgbClr val="E7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削除された型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28109" y="2125291"/>
            <a:ext cx="6631695" cy="629715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FrameworkOnCore の System.Web のコア ― 全種類で共通(referencesource の移植)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87144" y="2341756"/>
            <a:ext cx="1693591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HttpApplication・パイプライン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510254" y="2341756"/>
            <a:ext cx="1538622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HTTP モジュール・ハンドラー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078394" y="2341756"/>
            <a:ext cx="1874388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ルーティング(System.Web.Routing)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982301" y="2341756"/>
            <a:ext cx="1254512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セッション・キャッシュ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87144" y="2538542"/>
            <a:ext cx="1977701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フォーム認証・メンバーシップ・ロール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794364" y="2538542"/>
            <a:ext cx="1362990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web.config のセクション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86872" y="2538542"/>
            <a:ext cx="2153333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Compilers(実行時コンパイル + 書き換え)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399162" y="2125291"/>
            <a:ext cx="1200395" cy="629715"/>
          </a:xfrm>
          <a:prstGeom prst="rect">
            <a:avLst/>
          </a:prstGeom>
          <a:solidFill>
            <a:srgbClr val="E05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アプリのデータ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458197" y="2341756"/>
            <a:ext cx="1082324" cy="167268"/>
          </a:xfrm>
          <a:prstGeom prst="roundRect">
            <a:avLst>
              <a:gd name="adj" fmla="val 18000"/>
            </a:avLst>
          </a:prstGeom>
          <a:solidFill>
            <a:srgbClr val="FB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EF4 → EF6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458197" y="2538542"/>
            <a:ext cx="1082324" cy="167268"/>
          </a:xfrm>
          <a:prstGeom prst="roundRect">
            <a:avLst>
              <a:gd name="adj" fmla="val 18000"/>
            </a:avLst>
          </a:prstGeom>
          <a:solidFill>
            <a:srgbClr val="FB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LINQ to SQL(移植)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28109" y="2794364"/>
            <a:ext cx="3857010" cy="983931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IIS 互換ミドルウェア(FrameworkOnCore。IIS と同じ順、既定は IIS 互換)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87144" y="3010829"/>
            <a:ext cx="551985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W3C ログ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368648" y="3010829"/>
            <a:ext cx="1590278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応答ヘッダー(customHeaders)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988444" y="3010829"/>
            <a:ext cx="324697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圧縮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87144" y="3207615"/>
            <a:ext cx="1476634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エラー ページ(httpErrors)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293297" y="3207615"/>
            <a:ext cx="743113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URL Rewrite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065929" y="3207615"/>
            <a:ext cx="799936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httpRedirect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87144" y="3404401"/>
            <a:ext cx="2700890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既定のドキュメント・静的ファイル・フォルダーの一覧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517553" y="3404401"/>
            <a:ext cx="634635" cy="167268"/>
          </a:xfrm>
          <a:prstGeom prst="roundRect">
            <a:avLst>
              <a:gd name="adj" fmla="val 18000"/>
            </a:avLst>
          </a:prstGeom>
          <a:solidFill>
            <a:srgbClr val="F8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セッション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624476" y="2794364"/>
            <a:ext cx="491965" cy="1023288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74" name="Rectangle 73"/>
          <p:cNvSpPr/>
          <p:nvPr/>
        </p:nvSpPr>
        <p:spPr>
          <a:xfrm>
            <a:off x="728109" y="3817652"/>
            <a:ext cx="4388332" cy="472286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ASP.NET Core(Microsoft)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787144" y="4034117"/>
            <a:ext cx="1740082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Kestrel(.NET の上のライブラリ)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2556745" y="4034117"/>
            <a:ext cx="1461137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ミドルウェアのパイプライン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047400" y="4034117"/>
            <a:ext cx="851592" cy="167268"/>
          </a:xfrm>
          <a:prstGeom prst="roundRect">
            <a:avLst>
              <a:gd name="adj" fmla="val 18000"/>
            </a:avLst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構成・ログ・DI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3246972" y="3837331"/>
            <a:ext cx="1656448" cy="196786"/>
          </a:xfrm>
          <a:prstGeom prst="roundRect">
            <a:avLst>
              <a:gd name="adj" fmla="val 18000"/>
            </a:avLst>
          </a:prstGeom>
          <a:solidFill>
            <a:srgbClr val="F2C200"/>
          </a:solidFill>
          <a:ln w="14748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ctr"/>
            <a:r>
              <a:rPr sz="851" b="1">
                <a:solidFill>
                  <a:srgbClr val="333333"/>
                </a:solidFill>
                <a:latin typeface="Yu Gothic UI"/>
                <a:ea typeface="Yu Gothic UI"/>
              </a:rPr>
              <a:t>HTTP サーバー(要求を受ける)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155799" y="2794364"/>
            <a:ext cx="3778295" cy="1495575"/>
          </a:xfrm>
          <a:prstGeom prst="rect">
            <a:avLst/>
          </a:prstGeom>
          <a:solidFill>
            <a:srgbClr val="E05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ライブラリの移植 ― System.Web もアプリも使う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214835" y="3010829"/>
            <a:ext cx="949739" cy="167268"/>
          </a:xfrm>
          <a:prstGeom prst="roundRect">
            <a:avLst>
              <a:gd name="adj" fmla="val 18000"/>
            </a:avLst>
          </a:prstGeom>
          <a:solidFill>
            <a:srgbClr val="FB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SqlClient(移植)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194092" y="3010829"/>
            <a:ext cx="1311334" cy="167268"/>
          </a:xfrm>
          <a:prstGeom prst="roundRect">
            <a:avLst>
              <a:gd name="adj" fmla="val 18000"/>
            </a:avLst>
          </a:prstGeom>
          <a:solidFill>
            <a:srgbClr val="FB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Drawing.Common(Linux)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7534944" y="3010829"/>
            <a:ext cx="1290671" cy="167268"/>
          </a:xfrm>
          <a:prstGeom prst="roundRect">
            <a:avLst>
              <a:gd name="adj" fmla="val 18000"/>
            </a:avLst>
          </a:prstGeom>
          <a:solidFill>
            <a:srgbClr val="FB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BinaryFormatter(互換)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214835" y="3207615"/>
            <a:ext cx="644966" cy="167268"/>
          </a:xfrm>
          <a:prstGeom prst="roundRect">
            <a:avLst>
              <a:gd name="adj" fmla="val 18000"/>
            </a:avLst>
          </a:prstGeom>
          <a:solidFill>
            <a:srgbClr val="FB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構成(移植)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28109" y="4329296"/>
            <a:ext cx="9583489" cy="432929"/>
          </a:xfrm>
          <a:prstGeom prst="rect">
            <a:avLst/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.NET 10 クラスライブラリ(そのまま。Compat も、その上で動く)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87144" y="4545761"/>
            <a:ext cx="743113" cy="167268"/>
          </a:xfrm>
          <a:prstGeom prst="roundRect">
            <a:avLst>
              <a:gd name="adj" fmla="val 18000"/>
            </a:avLst>
          </a:prstGeom>
          <a:solidFill>
            <a:srgbClr val="EF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System.Data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559776" y="4545761"/>
            <a:ext cx="686291" cy="167268"/>
          </a:xfrm>
          <a:prstGeom prst="roundRect">
            <a:avLst>
              <a:gd name="adj" fmla="val 18000"/>
            </a:avLst>
          </a:prstGeom>
          <a:solidFill>
            <a:srgbClr val="EF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System.Xml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2275586" y="4545761"/>
            <a:ext cx="1027224" cy="167268"/>
          </a:xfrm>
          <a:prstGeom prst="roundRect">
            <a:avLst>
              <a:gd name="adj" fmla="val 18000"/>
            </a:avLst>
          </a:prstGeom>
          <a:solidFill>
            <a:srgbClr val="EF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System.Text.Json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332328" y="4545761"/>
            <a:ext cx="970402" cy="167268"/>
          </a:xfrm>
          <a:prstGeom prst="roundRect">
            <a:avLst>
              <a:gd name="adj" fmla="val 18000"/>
            </a:avLst>
          </a:prstGeom>
          <a:solidFill>
            <a:srgbClr val="EF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System.Net.Http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4332248" y="4545761"/>
            <a:ext cx="1652266" cy="167268"/>
          </a:xfrm>
          <a:prstGeom prst="roundRect">
            <a:avLst>
              <a:gd name="adj" fmla="val 18000"/>
            </a:avLst>
          </a:prstGeom>
          <a:solidFill>
            <a:srgbClr val="EF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System.Diagnostics.EventLog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28109" y="4801583"/>
            <a:ext cx="9583489" cy="452608"/>
          </a:xfrm>
          <a:prstGeom prst="rect">
            <a:avLst/>
          </a:prstGeom>
          <a:solidFill>
            <a:srgbClr val="3E2470"/>
          </a:solidFill>
          <a:ln w="39329">
            <a:solidFill>
              <a:srgbClr val="F2C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System.Private.CoreLib + CoreCLR(一組)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787144" y="5018048"/>
            <a:ext cx="2628572" cy="167268"/>
          </a:xfrm>
          <a:prstGeom prst="roundRect">
            <a:avLst>
              <a:gd name="adj" fmla="val 18000"/>
            </a:avLst>
          </a:prstGeom>
          <a:solidFill>
            <a:srgbClr val="E8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.NET のまま(ASP.NET Core は .NET の動きが前提)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3445234" y="5018048"/>
            <a:ext cx="2845528" cy="167268"/>
          </a:xfrm>
          <a:prstGeom prst="roundRect">
            <a:avLst>
              <a:gd name="adj" fmla="val 18000"/>
            </a:avLst>
          </a:prstGeom>
          <a:solidFill>
            <a:srgbClr val="E8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アプリの、結果が違う呼び出しだけ Compat に書き換える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8776665" y="4850780"/>
            <a:ext cx="1436539" cy="196786"/>
          </a:xfrm>
          <a:prstGeom prst="roundRect">
            <a:avLst>
              <a:gd name="adj" fmla="val 18000"/>
            </a:avLst>
          </a:prstGeom>
          <a:solidFill>
            <a:srgbClr val="D32F2F"/>
          </a:solidFill>
          <a:ln w="14748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ctr"/>
            <a:r>
              <a:rPr sz="851" b="1">
                <a:solidFill>
                  <a:srgbClr val="FFFFFF"/>
                </a:solidFill>
                <a:latin typeface="Yu Gothic UI"/>
                <a:ea typeface="Yu Gothic UI"/>
              </a:rPr>
              <a:t>例外: 差し替え不可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28109" y="5293549"/>
            <a:ext cx="4791744" cy="491965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Windows Server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787144" y="5510014"/>
            <a:ext cx="1006561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IIS + ANCM(任意)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1823224" y="5510014"/>
            <a:ext cx="345359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NTFS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2198102" y="5510014"/>
            <a:ext cx="288537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NLS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2516157" y="5510014"/>
            <a:ext cx="737948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タイムゾーン</a:t>
            </a:r>
          </a:p>
        </p:txBody>
      </p:sp>
      <p:sp>
        <p:nvSpPr>
          <p:cNvPr id="99" name="Rectangle 98"/>
          <p:cNvSpPr/>
          <p:nvPr/>
        </p:nvSpPr>
        <p:spPr>
          <a:xfrm>
            <a:off x="5559210" y="5293549"/>
            <a:ext cx="4752387" cy="491965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Linux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5618246" y="5510014"/>
            <a:ext cx="960070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Docker・systemd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6607835" y="5510014"/>
            <a:ext cx="619138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ext4・xfs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7256492" y="5510014"/>
            <a:ext cx="288537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ICU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7574547" y="5510014"/>
            <a:ext cx="1125371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TZ = 元のサーバーの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8729437" y="5510014"/>
            <a:ext cx="686291" cy="167268"/>
          </a:xfrm>
          <a:prstGeom prst="roundRect">
            <a:avLst>
              <a:gd name="adj" fmla="val 18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libgdiplus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728109" y="5824872"/>
            <a:ext cx="9583489" cy="216464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サーバー・コンテナ・クラウド(x64・ARM64)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9035" y="1062645"/>
            <a:ext cx="295179" cy="3148579"/>
          </a:xfrm>
          <a:prstGeom prst="rect">
            <a:avLst/>
          </a:prstGeom>
          <a:solidFill>
            <a:srgbClr val="3AA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 vert="eaVert"/>
          <a:lstStyle/>
          <a:p>
            <a:pPr algn="ctr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独自の翻訳(各アセンブリのサテライト)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59035" y="4408011"/>
            <a:ext cx="295179" cy="1377503"/>
          </a:xfrm>
          <a:prstGeom prst="rect">
            <a:avLst/>
          </a:prstGeom>
          <a:solidFill>
            <a:srgbClr val="3AA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 vert="eaVert"/>
          <a:lstStyle/>
          <a:p>
            <a:pPr algn="ctr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カルチャ プロファイル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393572" y="2125291"/>
            <a:ext cx="295179" cy="3128901"/>
          </a:xfrm>
          <a:prstGeom prst="rect">
            <a:avLst/>
          </a:prstGeom>
          <a:solidFill>
            <a:srgbClr val="2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 vert="eaVert"/>
          <a:lstStyle/>
          <a:p>
            <a:pPr algn="ctr"/>
            <a:r>
              <a:rPr sz="851" b="1">
                <a:solidFill>
                  <a:srgbClr val="FFFFFF"/>
                </a:solidFill>
                <a:latin typeface="Yu Gothic UI"/>
                <a:ea typeface="Yu Gothic UI"/>
              </a:rPr>
              <a:t>プロセスを載せる(IIS・Docker・systemd)</a:t>
            </a:r>
          </a:p>
          <a:p>
            <a:pPr algn="ctr"/>
            <a:r>
              <a:rPr sz="851" b="1">
                <a:solidFill>
                  <a:srgbClr val="FFFFFF"/>
                </a:solidFill>
                <a:latin typeface="Yu Gothic UI"/>
                <a:ea typeface="Yu Gothic UI"/>
              </a:rPr>
              <a:t>作業プロセス(FOC): bin の変更で再起動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10409991" y="393572"/>
            <a:ext cx="1731718" cy="5942944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10" name="Rectangle 109"/>
          <p:cNvSpPr/>
          <p:nvPr/>
        </p:nvSpPr>
        <p:spPr>
          <a:xfrm>
            <a:off x="10469027" y="452608"/>
            <a:ext cx="1613647" cy="3935724"/>
          </a:xfrm>
          <a:prstGeom prst="rect">
            <a:avLst/>
          </a:prstGeom>
          <a:solidFill>
            <a:srgbClr val="3AA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FrameworkOnCore Studio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10528063" y="669073"/>
            <a:ext cx="1495575" cy="167268"/>
          </a:xfrm>
          <a:prstGeom prst="roundRect">
            <a:avLst>
              <a:gd name="adj" fmla="val 18000"/>
            </a:avLst>
          </a:prstGeom>
          <a:solidFill>
            <a:srgbClr val="E7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① 読み込み・元のビルド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10528063" y="865859"/>
            <a:ext cx="1495575" cy="167268"/>
          </a:xfrm>
          <a:prstGeom prst="roundRect">
            <a:avLst>
              <a:gd name="adj" fmla="val 18000"/>
            </a:avLst>
          </a:prstGeom>
          <a:solidFill>
            <a:srgbClr val="E7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② 解析(使っている API)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10528063" y="1062645"/>
            <a:ext cx="1495575" cy="167268"/>
          </a:xfrm>
          <a:prstGeom prst="roundRect">
            <a:avLst>
              <a:gd name="adj" fmla="val 18000"/>
            </a:avLst>
          </a:prstGeom>
          <a:solidFill>
            <a:srgbClr val="E7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③ 部品の選択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10528063" y="1259431"/>
            <a:ext cx="1495575" cy="167268"/>
          </a:xfrm>
          <a:prstGeom prst="roundRect">
            <a:avLst>
              <a:gd name="adj" fmla="val 18000"/>
            </a:avLst>
          </a:prstGeom>
          <a:solidFill>
            <a:srgbClr val="E7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④ アプリの設定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10528063" y="1456218"/>
            <a:ext cx="1495575" cy="167268"/>
          </a:xfrm>
          <a:prstGeom prst="roundRect">
            <a:avLst>
              <a:gd name="adj" fmla="val 18000"/>
            </a:avLst>
          </a:prstGeom>
          <a:solidFill>
            <a:srgbClr val="E7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⑤ 変換(書き換え規則)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10528063" y="1653004"/>
            <a:ext cx="1495575" cy="167268"/>
          </a:xfrm>
          <a:prstGeom prst="roundRect">
            <a:avLst>
              <a:gd name="adj" fmla="val 18000"/>
            </a:avLst>
          </a:prstGeom>
          <a:solidFill>
            <a:srgbClr val="E7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⑥ 配置(Docker・systemd)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10528063" y="1849790"/>
            <a:ext cx="1495575" cy="167268"/>
          </a:xfrm>
          <a:prstGeom prst="roundRect">
            <a:avLst>
              <a:gd name="adj" fmla="val 18000"/>
            </a:avLst>
          </a:prstGeom>
          <a:solidFill>
            <a:srgbClr val="E7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ParityTest(IIS と比べる)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10528063" y="2046576"/>
            <a:ext cx="1495575" cy="167268"/>
          </a:xfrm>
          <a:prstGeom prst="roundRect">
            <a:avLst>
              <a:gd name="adj" fmla="val 18000"/>
            </a:avLst>
          </a:prstGeom>
          <a:solidFill>
            <a:srgbClr val="E7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l"/>
            <a:r>
              <a:rPr sz="812" b="1">
                <a:solidFill>
                  <a:srgbClr val="333333"/>
                </a:solidFill>
                <a:latin typeface="Yu Gothic UI"/>
                <a:ea typeface="Yu Gothic UI"/>
              </a:rPr>
              <a:t>capture-culture・iis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0449348" y="4447368"/>
            <a:ext cx="1653004" cy="18694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812" b="0">
                <a:solidFill>
                  <a:srgbClr val="333333"/>
                </a:solidFill>
                <a:latin typeface="Yu Gothic UI"/>
                <a:ea typeface="Yu Gothic UI"/>
              </a:rPr>
              <a:t>見方: 上下に接する箱は、上が下を直接使う(接しなければ使わない。どれもが使うクラスライブラリと CoreLib へは、層を飛ばしても使う)。縦に並ぶ箱は、その上のアプリの種類が使う部品。右のアプリは、段ごとに使う層に載る。左の縦の帯は、いくつもの層に付くもの(プロセスを載せるホストも)。黄色の印は要求を受ける HTTP サーバー。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137750" y="6572659"/>
            <a:ext cx="137750" cy="137750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21" name="Rectangle 120"/>
          <p:cNvSpPr/>
          <p:nvPr/>
        </p:nvSpPr>
        <p:spPr>
          <a:xfrm>
            <a:off x="295179" y="6533302"/>
            <a:ext cx="983931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お客様のアプリ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1397182" y="6572659"/>
            <a:ext cx="137750" cy="13775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23" name="Rectangle 122"/>
          <p:cNvSpPr/>
          <p:nvPr/>
        </p:nvSpPr>
        <p:spPr>
          <a:xfrm>
            <a:off x="1554611" y="6533302"/>
            <a:ext cx="1497543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FrameworkOnCore(移植)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3170226" y="6572659"/>
            <a:ext cx="137750" cy="137750"/>
          </a:xfrm>
          <a:prstGeom prst="rect">
            <a:avLst/>
          </a:prstGeom>
          <a:solidFill>
            <a:srgbClr val="E05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25" name="Rectangle 124"/>
          <p:cNvSpPr/>
          <p:nvPr/>
        </p:nvSpPr>
        <p:spPr>
          <a:xfrm>
            <a:off x="3327655" y="6533302"/>
            <a:ext cx="865859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移植・代わり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4311586" y="6572659"/>
            <a:ext cx="137750" cy="137750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27" name="Rectangle 126"/>
          <p:cNvSpPr/>
          <p:nvPr/>
        </p:nvSpPr>
        <p:spPr>
          <a:xfrm>
            <a:off x="4469015" y="6533302"/>
            <a:ext cx="741884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Microsoft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5328971" y="6572659"/>
            <a:ext cx="137750" cy="137750"/>
          </a:xfrm>
          <a:prstGeom prst="rect">
            <a:avLst/>
          </a:prstGeom>
          <a:solidFill>
            <a:srgbClr val="3AA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29" name="Rectangle 128"/>
          <p:cNvSpPr/>
          <p:nvPr/>
        </p:nvSpPr>
        <p:spPr>
          <a:xfrm>
            <a:off x="5486400" y="6533302"/>
            <a:ext cx="865859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互換・ツール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470331" y="6572659"/>
            <a:ext cx="137750" cy="137750"/>
          </a:xfrm>
          <a:prstGeom prst="rect">
            <a:avLst/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31" name="Rectangle 130"/>
          <p:cNvSpPr/>
          <p:nvPr/>
        </p:nvSpPr>
        <p:spPr>
          <a:xfrm>
            <a:off x="6627760" y="6533302"/>
            <a:ext cx="417186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.NET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163018" y="6572659"/>
            <a:ext cx="137750" cy="137750"/>
          </a:xfrm>
          <a:prstGeom prst="rect">
            <a:avLst/>
          </a:prstGeom>
          <a:solidFill>
            <a:srgbClr val="3E2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33" name="Rectangle 132"/>
          <p:cNvSpPr/>
          <p:nvPr/>
        </p:nvSpPr>
        <p:spPr>
          <a:xfrm>
            <a:off x="7320447" y="6533302"/>
            <a:ext cx="1397182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CoreLib + ランタイム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835701" y="6572659"/>
            <a:ext cx="137750" cy="137750"/>
          </a:xfrm>
          <a:prstGeom prst="rect">
            <a:avLst/>
          </a:prstGeom>
          <a:solidFill>
            <a:srgbClr val="2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35" name="Rectangle 134"/>
          <p:cNvSpPr/>
          <p:nvPr/>
        </p:nvSpPr>
        <p:spPr>
          <a:xfrm>
            <a:off x="8993130" y="6533302"/>
            <a:ext cx="511644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ホスト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9622846" y="6572659"/>
            <a:ext cx="137750" cy="137750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37" name="Rectangle 136"/>
          <p:cNvSpPr/>
          <p:nvPr/>
        </p:nvSpPr>
        <p:spPr>
          <a:xfrm>
            <a:off x="9780275" y="6533302"/>
            <a:ext cx="287307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0">
                <a:solidFill>
                  <a:srgbClr val="333333"/>
                </a:solidFill>
                <a:latin typeface="Yu Gothic UI"/>
                <a:ea typeface="Yu Gothic UI"/>
              </a:rPr>
              <a:t>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8071" y="39357"/>
            <a:ext cx="11964602" cy="31485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l"/>
            <a:r>
              <a:rPr sz="1625" b="1">
                <a:solidFill>
                  <a:srgbClr val="333333"/>
                </a:solidFill>
                <a:latin typeface="Yu Gothic UI"/>
                <a:ea typeface="Yu Gothic UI"/>
              </a:rPr>
              <a:t>CoreLib だけは例外: ランタイムと一組で、アプリから差し替えられない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750" y="452608"/>
            <a:ext cx="5805193" cy="3246972"/>
          </a:xfrm>
          <a:prstGeom prst="rect">
            <a:avLst/>
          </a:prstGeom>
          <a:solidFill>
            <a:srgbClr val="F4F8FC"/>
          </a:solidFill>
          <a:ln w="19664">
            <a:solidFill>
              <a:srgbClr val="3B73B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4" name="Rectangle 3"/>
          <p:cNvSpPr/>
          <p:nvPr/>
        </p:nvSpPr>
        <p:spPr>
          <a:xfrm>
            <a:off x="255822" y="511644"/>
            <a:ext cx="5510014" cy="25582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1316" b="1">
                <a:solidFill>
                  <a:srgbClr val="3B73B9"/>
                </a:solidFill>
                <a:latin typeface="Yu Gothic UI"/>
                <a:ea typeface="Yu Gothic UI"/>
              </a:rPr>
              <a:t>普通のアセンブリ(例: System.Web)</a:t>
            </a:r>
          </a:p>
        </p:txBody>
      </p:sp>
      <p:sp>
        <p:nvSpPr>
          <p:cNvPr id="5" name="Rectangle 4"/>
          <p:cNvSpPr/>
          <p:nvPr/>
        </p:nvSpPr>
        <p:spPr>
          <a:xfrm>
            <a:off x="590358" y="905216"/>
            <a:ext cx="1967862" cy="491965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ctr"/>
            <a:r>
              <a:rPr sz="1161" b="1">
                <a:solidFill>
                  <a:srgbClr val="FFFFFF"/>
                </a:solidFill>
                <a:latin typeface="Yu Gothic UI"/>
                <a:ea typeface="Yu Gothic UI"/>
              </a:rPr>
              <a:t>アプリ</a:t>
            </a:r>
          </a:p>
        </p:txBody>
      </p:sp>
      <p:sp>
        <p:nvSpPr>
          <p:cNvPr id="6" name="Rectangle 5"/>
          <p:cNvSpPr/>
          <p:nvPr/>
        </p:nvSpPr>
        <p:spPr>
          <a:xfrm>
            <a:off x="3246972" y="905216"/>
            <a:ext cx="2263041" cy="491965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ctr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FrameworkOnCore の System.Web</a:t>
            </a:r>
          </a:p>
          <a:p>
            <a:pPr algn="ctr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(referencesource の移植)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58220" y="1151199"/>
            <a:ext cx="669074" cy="0"/>
          </a:xfrm>
          <a:prstGeom prst="line">
            <a:avLst/>
          </a:prstGeom>
          <a:ln w="24580">
            <a:solidFill>
              <a:srgbClr val="3AA3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3246972" y="1574289"/>
            <a:ext cx="2263041" cy="393572"/>
          </a:xfrm>
          <a:prstGeom prst="rect">
            <a:avLst/>
          </a:prstGeom>
          <a:solidFill>
            <a:srgbClr val="FFFFFF"/>
          </a:solidFill>
          <a:ln w="14748">
            <a:solidFill>
              <a:srgbClr val="BBBBBB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ctr"/>
            <a:r>
              <a:rPr sz="929" b="0">
                <a:solidFill>
                  <a:srgbClr val="999999"/>
                </a:solidFill>
                <a:latin typeface="Yu Gothic UI"/>
                <a:ea typeface="Yu Gothic UI"/>
              </a:rPr>
              <a:t>.NET の System.Web(型転送だけ)</a:t>
            </a:r>
          </a:p>
        </p:txBody>
      </p:sp>
      <p:sp>
        <p:nvSpPr>
          <p:cNvPr id="9" name="Rectangle 8"/>
          <p:cNvSpPr/>
          <p:nvPr/>
        </p:nvSpPr>
        <p:spPr>
          <a:xfrm>
            <a:off x="2656614" y="1574289"/>
            <a:ext cx="590358" cy="3935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ctr"/>
            <a:r>
              <a:rPr sz="2012" b="1">
                <a:solidFill>
                  <a:srgbClr val="D32F2F"/>
                </a:solidFill>
                <a:latin typeface="Yu Gothic UI"/>
                <a:ea typeface="Yu Gothic UI"/>
              </a:rPr>
              <a:t>✕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5179" y="2105612"/>
            <a:ext cx="5510014" cy="157428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1161" b="0">
                <a:solidFill>
                  <a:srgbClr val="333333"/>
                </a:solidFill>
                <a:latin typeface="Yu Gothic UI"/>
                <a:ea typeface="Yu Gothic UI"/>
              </a:rPr>
              <a:t>・アプリと一緒に bin に置ける</a:t>
            </a:r>
          </a:p>
          <a:p>
            <a:pPr algn="l"/>
            <a:r>
              <a:rPr sz="1161" b="0">
                <a:solidFill>
                  <a:srgbClr val="333333"/>
                </a:solidFill>
                <a:latin typeface="Yu Gothic UI"/>
                <a:ea typeface="Yu Gothic UI"/>
              </a:rPr>
              <a:t>・同じ名前でも、アプリが選んだ版が読み込まれる(deps.json)</a:t>
            </a:r>
          </a:p>
          <a:p>
            <a:pPr algn="l"/>
            <a:r>
              <a:rPr sz="1161" b="0">
                <a:solidFill>
                  <a:srgbClr val="333333"/>
                </a:solidFill>
                <a:latin typeface="Yu Gothic UI"/>
                <a:ea typeface="Yu Gothic UI"/>
              </a:rPr>
              <a:t>→ referencesource の ASP.NET を移植して丸ごと差し替えた</a:t>
            </a:r>
          </a:p>
          <a:p>
            <a:pPr algn="l"/>
            <a:r>
              <a:rPr sz="1161" b="0">
                <a:solidFill>
                  <a:srgbClr val="333333"/>
                </a:solidFill>
                <a:latin typeface="Yu Gothic UI"/>
                <a:ea typeface="Yu Gothic UI"/>
              </a:rPr>
              <a:t>   (意地悪コーパスでも最初から一致)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39730" y="452608"/>
            <a:ext cx="5923265" cy="3246972"/>
          </a:xfrm>
          <a:prstGeom prst="rect">
            <a:avLst/>
          </a:prstGeom>
          <a:solidFill>
            <a:srgbClr val="FBF6EA"/>
          </a:solidFill>
          <a:ln w="29496">
            <a:solidFill>
              <a:srgbClr val="F2C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6257802" y="511644"/>
            <a:ext cx="5706800" cy="25582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1316" b="1">
                <a:solidFill>
                  <a:srgbClr val="3E2470"/>
                </a:solidFill>
                <a:latin typeface="Yu Gothic UI"/>
                <a:ea typeface="Yu Gothic UI"/>
              </a:rPr>
              <a:t>System.Private.CoreLib(.NET Framework の mscorlib)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95552" y="905216"/>
            <a:ext cx="2459827" cy="905216"/>
          </a:xfrm>
          <a:prstGeom prst="rect">
            <a:avLst/>
          </a:prstGeom>
          <a:solidFill>
            <a:srgbClr val="3E2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ctr"/>
            <a:r>
              <a:rPr sz="1006" b="1">
                <a:solidFill>
                  <a:srgbClr val="FFFFFF"/>
                </a:solidFill>
                <a:latin typeface="Yu Gothic UI"/>
                <a:ea typeface="Yu Gothic UI"/>
              </a:rPr>
              <a:t>CoreLib(C#)</a:t>
            </a:r>
          </a:p>
          <a:p>
            <a:pPr algn="ctr"/>
            <a:r>
              <a:rPr sz="1006" b="1">
                <a:solidFill>
                  <a:srgbClr val="FFFFFF"/>
                </a:solidFill>
                <a:latin typeface="Yu Gothic UI"/>
                <a:ea typeface="Yu Gothic UI"/>
              </a:rPr>
              <a:t>object・string・double</a:t>
            </a:r>
          </a:p>
          <a:p>
            <a:pPr algn="ctr"/>
            <a:r>
              <a:rPr sz="1006" b="1">
                <a:solidFill>
                  <a:srgbClr val="FFFFFF"/>
                </a:solidFill>
                <a:latin typeface="Yu Gothic UI"/>
                <a:ea typeface="Yu Gothic UI"/>
              </a:rPr>
              <a:t>CultureInfo・Directory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55380" y="905216"/>
            <a:ext cx="2459827" cy="905216"/>
          </a:xfrm>
          <a:prstGeom prst="rect">
            <a:avLst/>
          </a:prstGeom>
          <a:solidFill>
            <a:srgbClr val="2B1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ctr"/>
            <a:r>
              <a:rPr sz="1006" b="1">
                <a:solidFill>
                  <a:srgbClr val="FFFFFF"/>
                </a:solidFill>
                <a:latin typeface="Yu Gothic UI"/>
                <a:ea typeface="Yu Gothic UI"/>
              </a:rPr>
              <a:t>CoreCLR(C++)</a:t>
            </a:r>
          </a:p>
          <a:p>
            <a:pPr algn="ctr"/>
            <a:r>
              <a:rPr sz="1006" b="1">
                <a:solidFill>
                  <a:srgbClr val="FFFFFF"/>
                </a:solidFill>
                <a:latin typeface="Yu Gothic UI"/>
                <a:ea typeface="Yu Gothic UI"/>
              </a:rPr>
              <a:t>JIT・GC・型の形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66628" y="787144"/>
            <a:ext cx="1377503" cy="236143"/>
          </a:xfrm>
          <a:prstGeom prst="roundRect">
            <a:avLst>
              <a:gd name="adj" fmla="val 18000"/>
            </a:avLst>
          </a:prstGeom>
          <a:solidFill>
            <a:srgbClr val="F2C200"/>
          </a:solidFill>
          <a:ln w="14748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ctr"/>
            <a:r>
              <a:rPr sz="929" b="1">
                <a:solidFill>
                  <a:srgbClr val="333333"/>
                </a:solidFill>
                <a:latin typeface="Yu Gothic UI"/>
                <a:ea typeface="Yu Gothic UI"/>
              </a:rPr>
              <a:t>一組でビルド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626456" y="806823"/>
            <a:ext cx="1338146" cy="236143"/>
          </a:xfrm>
          <a:prstGeom prst="roundRect">
            <a:avLst>
              <a:gd name="adj" fmla="val 18000"/>
            </a:avLst>
          </a:prstGeom>
          <a:solidFill>
            <a:srgbClr val="D32F2F"/>
          </a:solidFill>
          <a:ln w="14748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9196" rIns="49196" tIns="19678" bIns="19678"/>
          <a:lstStyle/>
          <a:p>
            <a:pPr algn="ctr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>差し替え不可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7159" y="1889147"/>
            <a:ext cx="5706800" cy="1810433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1161" b="0">
                <a:solidFill>
                  <a:srgbClr val="333333"/>
                </a:solidFill>
                <a:latin typeface="Yu Gothic UI"/>
                <a:ea typeface="Yu Gothic UI"/>
              </a:rPr>
              <a:t>・ランタイムが string・object・Exception の形を直接読む</a:t>
            </a:r>
          </a:p>
          <a:p>
            <a:pPr algn="l"/>
            <a:r>
              <a:rPr sz="1161" b="0">
                <a:solidFill>
                  <a:srgbClr val="333333"/>
                </a:solidFill>
                <a:latin typeface="Yu Gothic UI"/>
                <a:ea typeface="Yu Gothic UI"/>
              </a:rPr>
              <a:t>・CoreLib がランタイムの C++ の関数を直接呼ぶ</a:t>
            </a:r>
          </a:p>
          <a:p>
            <a:pPr algn="l"/>
            <a:r>
              <a:rPr sz="1161" b="0">
                <a:solidFill>
                  <a:srgbClr val="333333"/>
                </a:solidFill>
                <a:latin typeface="Yu Gothic UI"/>
                <a:ea typeface="Yu Gothic UI"/>
              </a:rPr>
              <a:t>・JIT が一部のメソッドを特別扱いする</a:t>
            </a:r>
          </a:p>
          <a:p>
            <a:pPr algn="l"/>
            <a:r>
              <a:rPr sz="1161" b="0">
                <a:solidFill>
                  <a:srgbClr val="333333"/>
                </a:solidFill>
                <a:latin typeface="Yu Gothic UI"/>
                <a:ea typeface="Yu Gothic UI"/>
              </a:rPr>
              <a:t>・アプリより先に読み込まれ、1 プロセスに 1 つ(deps.json で選べない)</a:t>
            </a:r>
          </a:p>
          <a:p>
            <a:pPr algn="l"/>
            <a:r>
              <a:rPr sz="1161" b="0">
                <a:solidFill>
                  <a:srgbClr val="333333"/>
                </a:solidFill>
                <a:latin typeface="Yu Gothic UI"/>
                <a:ea typeface="Yu Gothic UI"/>
              </a:rPr>
              <a:t>・mscorlib も CLR 4 と一体(double の書式は clr.dll の C++)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7750" y="3837331"/>
            <a:ext cx="11925245" cy="2617256"/>
          </a:xfrm>
          <a:prstGeom prst="rect">
            <a:avLst/>
          </a:prstGeom>
          <a:solidFill>
            <a:srgbClr val="F3FAF5"/>
          </a:solidFill>
          <a:ln w="19664">
            <a:solidFill>
              <a:srgbClr val="3AA3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929" b="1">
                <a:solidFill>
                  <a:srgbClr val="FFFFFF"/>
                </a:solidFill>
                <a:latin typeface="Yu Gothic UI"/>
                <a:ea typeface="Yu Gothic UI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255822" y="3896367"/>
            <a:ext cx="11610387" cy="25582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1316" b="1">
                <a:solidFill>
                  <a:srgbClr val="3AA357"/>
                </a:solidFill>
                <a:latin typeface="Yu Gothic UI"/>
                <a:ea typeface="Yu Gothic UI"/>
              </a:rPr>
              <a:t>そこで: CoreLib は .NET のまま、アプリの呼び出しだけを置き換える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572" y="4329296"/>
            <a:ext cx="2263041" cy="393572"/>
          </a:xfrm>
          <a:prstGeom prst="rect">
            <a:avLst/>
          </a:prstGeom>
          <a:solidFill>
            <a:srgbClr val="F39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ctr"/>
            <a:r>
              <a:rPr sz="1083" b="1">
                <a:solidFill>
                  <a:srgbClr val="FFFFFF"/>
                </a:solidFill>
                <a:latin typeface="Yu Gothic UI"/>
                <a:ea typeface="Yu Gothic UI"/>
              </a:rPr>
              <a:t>アプリのコード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51793" y="4329296"/>
            <a:ext cx="2263041" cy="393572"/>
          </a:xfrm>
          <a:prstGeom prst="rect">
            <a:avLst/>
          </a:prstGeom>
          <a:solidFill>
            <a:srgbClr val="FFFFFF"/>
          </a:solidFill>
          <a:ln w="14748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ctr"/>
            <a:r>
              <a:rPr sz="1083" b="1">
                <a:solidFill>
                  <a:srgbClr val="333333"/>
                </a:solidFill>
                <a:latin typeface="Yu Gothic UI"/>
                <a:ea typeface="Yu Gothic UI"/>
              </a:rPr>
              <a:t>price.ToString()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234513" y="4526083"/>
            <a:ext cx="669073" cy="0"/>
          </a:xfrm>
          <a:prstGeom prst="line">
            <a:avLst/>
          </a:prstGeom>
          <a:ln w="24580">
            <a:solidFill>
              <a:srgbClr val="3AA3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5214835" y="4112832"/>
            <a:ext cx="885538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ctr"/>
            <a:r>
              <a:rPr sz="929" b="1">
                <a:solidFill>
                  <a:srgbClr val="3AA357"/>
                </a:solidFill>
                <a:latin typeface="Yu Gothic UI"/>
                <a:ea typeface="Yu Gothic UI"/>
              </a:rPr>
              <a:t>変換器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23265" y="4329296"/>
            <a:ext cx="3246972" cy="393572"/>
          </a:xfrm>
          <a:prstGeom prst="rect">
            <a:avLst/>
          </a:prstGeom>
          <a:solidFill>
            <a:srgbClr val="3AA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ctr"/>
            <a:r>
              <a:rPr sz="1083" b="1">
                <a:solidFill>
                  <a:srgbClr val="FFFFFF"/>
                </a:solidFill>
                <a:latin typeface="Yu Gothic UI"/>
                <a:ea typeface="Yu Gothic UI"/>
              </a:rPr>
              <a:t>FrameworkNumbers.ToString(price)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88309" y="4388332"/>
            <a:ext cx="2755007" cy="29517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1161" b="1">
                <a:solidFill>
                  <a:srgbClr val="333333"/>
                </a:solidFill>
                <a:latin typeface="Yu Gothic UI"/>
                <a:ea typeface="Yu Gothic UI"/>
              </a:rPr>
              <a:t>→ 0.3(.NET Framework と同じ)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93572" y="4919655"/>
            <a:ext cx="2263041" cy="393572"/>
          </a:xfrm>
          <a:prstGeom prst="rect">
            <a:avLst/>
          </a:prstGeom>
          <a:solidFill>
            <a:srgbClr val="3B73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ctr"/>
            <a:r>
              <a:rPr sz="1083" b="1">
                <a:solidFill>
                  <a:srgbClr val="FFFFFF"/>
                </a:solidFill>
                <a:latin typeface="Yu Gothic UI"/>
                <a:ea typeface="Yu Gothic UI"/>
              </a:rPr>
              <a:t>ASP.NET Core・JSON など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51793" y="4919655"/>
            <a:ext cx="2263041" cy="393572"/>
          </a:xfrm>
          <a:prstGeom prst="rect">
            <a:avLst/>
          </a:prstGeom>
          <a:solidFill>
            <a:srgbClr val="FFFFFF"/>
          </a:solidFill>
          <a:ln w="14748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ctr"/>
            <a:r>
              <a:rPr sz="1083" b="1">
                <a:solidFill>
                  <a:srgbClr val="333333"/>
                </a:solidFill>
                <a:latin typeface="Yu Gothic UI"/>
                <a:ea typeface="Yu Gothic UI"/>
              </a:rPr>
              <a:t>double.ToString()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234513" y="5116441"/>
            <a:ext cx="669073" cy="0"/>
          </a:xfrm>
          <a:prstGeom prst="line">
            <a:avLst/>
          </a:prstGeom>
          <a:ln w="24580">
            <a:solidFill>
              <a:srgbClr val="8888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5214835" y="4703190"/>
            <a:ext cx="885538" cy="2164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ctr"/>
            <a:r>
              <a:rPr sz="929" b="1">
                <a:solidFill>
                  <a:srgbClr val="888888"/>
                </a:solidFill>
                <a:latin typeface="Yu Gothic UI"/>
                <a:ea typeface="Yu Gothic UI"/>
              </a:rPr>
              <a:t>そのまま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23265" y="4919655"/>
            <a:ext cx="3246972" cy="393572"/>
          </a:xfrm>
          <a:prstGeom prst="rect">
            <a:avLst/>
          </a:prstGeom>
          <a:solidFill>
            <a:srgbClr val="3E2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9196" rIns="49196" tIns="19678" bIns="19678"/>
          <a:lstStyle/>
          <a:p>
            <a:pPr algn="ctr"/>
            <a:r>
              <a:rPr sz="1083" b="1">
                <a:solidFill>
                  <a:srgbClr val="FFFFFF"/>
                </a:solidFill>
                <a:latin typeface="Yu Gothic UI"/>
                <a:ea typeface="Yu Gothic UI"/>
              </a:rPr>
              <a:t>CoreLib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288309" y="4978691"/>
            <a:ext cx="2755007" cy="29517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1006" b="1">
                <a:solidFill>
                  <a:srgbClr val="333333"/>
                </a:solidFill>
                <a:latin typeface="Yu Gothic UI"/>
                <a:ea typeface="Yu Gothic UI"/>
              </a:rPr>
              <a:t>→ 0.30000000000000004(.NET の前提どおり)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93572" y="5510014"/>
            <a:ext cx="11511994" cy="88553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9196" rIns="49196" tIns="19678" bIns="19678"/>
          <a:lstStyle/>
          <a:p>
            <a:pPr algn="l"/>
            <a:r>
              <a:rPr sz="1083" b="0">
                <a:solidFill>
                  <a:srgbClr val="555555"/>
                </a:solidFill>
                <a:latin typeface="Yu Gothic UI"/>
                <a:ea typeface="Yu Gothic UI"/>
              </a:rPr>
              <a:t>CoreLib を自前で作り直す案は取らない: .NET 全体(毎月のセキュリティ更新、Windows・Linux・x64・ARM64)を自前で保守することになり、</a:t>
            </a:r>
          </a:p>
          <a:p>
            <a:pPr algn="l"/>
            <a:r>
              <a:rPr sz="1083" b="0">
                <a:solidFill>
                  <a:srgbClr val="555555"/>
                </a:solidFill>
                <a:latin typeface="Yu Gothic UI"/>
                <a:ea typeface="Yu Gothic UI"/>
              </a:rPr>
              <a:t>プロセス全体の動きが変わるので .NET 側の部品(ASP.NET Core、System.Text.Json など)を壊すおそれがある。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