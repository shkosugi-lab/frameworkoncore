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200746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071" y="39357"/>
            <a:ext cx="11964602" cy="3148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l"/>
            <a:r>
              <a:rPr sz="1625" b="1">
                <a:solidFill>
                  <a:srgbClr val="333333"/>
                </a:solidFill>
                <a:latin typeface="Yu Gothic UI"/>
                <a:ea typeface="Yu Gothic UI"/>
              </a:rPr>
              <a:t>① Windows Server + .NET Framework 4.8(元のサーバー)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929" y="393572"/>
            <a:ext cx="2164648" cy="629715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Web Forms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1965" y="610037"/>
            <a:ext cx="1290671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.aspx・.ascx・.master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1965" y="806823"/>
            <a:ext cx="944573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コードビハインド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2636935" y="393572"/>
            <a:ext cx="1377503" cy="629715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MVC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5971" y="610037"/>
            <a:ext cx="686291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5971" y="806823"/>
            <a:ext cx="913580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.cshtml(Razor)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053796" y="393572"/>
            <a:ext cx="1298789" cy="629715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Web API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2832" y="610037"/>
            <a:ext cx="85675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ApiController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2832" y="806823"/>
            <a:ext cx="61913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JSON・XML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1942" y="393572"/>
            <a:ext cx="1298789" cy="629715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ASMX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50978" y="610037"/>
            <a:ext cx="743113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.asmx(SOAP)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30088" y="393572"/>
            <a:ext cx="1377503" cy="629715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WCF サービス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89124" y="610037"/>
            <a:ext cx="345359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.svc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64002" y="610037"/>
            <a:ext cx="799936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serviceModel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929" y="1062645"/>
            <a:ext cx="2164648" cy="826502"/>
          </a:xfrm>
          <a:prstGeom prst="rect">
            <a:avLst/>
          </a:prstGeom>
          <a:solidFill>
            <a:srgbClr val="3B7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Web Forms の部品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1965" y="1279110"/>
            <a:ext cx="2046576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System.Web.UI(ページ・コントロール)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1965" y="1475896"/>
            <a:ext cx="2046576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ASP.NET AJAX(Extensions)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1965" y="1672682"/>
            <a:ext cx="2046576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Chart・Dynamic Data・Mobile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36935" y="1062645"/>
            <a:ext cx="1377503" cy="826502"/>
          </a:xfrm>
          <a:prstGeom prst="rect">
            <a:avLst/>
          </a:prstGeom>
          <a:solidFill>
            <a:srgbClr val="6D9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MVC 5(NuGet)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5971" y="1279110"/>
            <a:ext cx="1259431" cy="167268"/>
          </a:xfrm>
          <a:prstGeom prst="roundRect">
            <a:avLst>
              <a:gd name="adj" fmla="val 18000"/>
            </a:avLst>
          </a:prstGeom>
          <a:solidFill>
            <a:srgbClr val="FCE4EC"/>
          </a:solidFill>
          <a:ln w="19664">
            <a:solidFill>
              <a:srgbClr val="D81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880E4F"/>
                </a:solidFill>
                <a:latin typeface="Yu Gothic UI"/>
                <a:ea typeface="Yu Gothic UI"/>
              </a:rPr>
              <a:t>System.Web.Mvc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5971" y="1475896"/>
            <a:ext cx="1259431" cy="167268"/>
          </a:xfrm>
          <a:prstGeom prst="roundRect">
            <a:avLst>
              <a:gd name="adj" fmla="val 18000"/>
            </a:avLst>
          </a:prstGeom>
          <a:solidFill>
            <a:srgbClr val="FCE4EC"/>
          </a:solidFill>
          <a:ln w="19664">
            <a:solidFill>
              <a:srgbClr val="D81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880E4F"/>
                </a:solidFill>
                <a:latin typeface="Yu Gothic UI"/>
                <a:ea typeface="Yu Gothic UI"/>
              </a:rPr>
              <a:t>Razor 3・WebPages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5971" y="1672682"/>
            <a:ext cx="1259431" cy="167268"/>
          </a:xfrm>
          <a:prstGeom prst="roundRect">
            <a:avLst>
              <a:gd name="adj" fmla="val 18000"/>
            </a:avLst>
          </a:prstGeom>
          <a:solidFill>
            <a:srgbClr val="FCE4EC"/>
          </a:solidFill>
          <a:ln w="19664">
            <a:solidFill>
              <a:srgbClr val="D81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880E4F"/>
                </a:solidFill>
                <a:latin typeface="Yu Gothic UI"/>
                <a:ea typeface="Yu Gothic UI"/>
              </a:rPr>
              <a:t>AspNetWebStack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3796" y="1062645"/>
            <a:ext cx="1298789" cy="1121681"/>
          </a:xfrm>
          <a:prstGeom prst="rect">
            <a:avLst/>
          </a:prstGeom>
          <a:solidFill>
            <a:srgbClr val="6D9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Web API 2(NuGet)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2832" y="1279110"/>
            <a:ext cx="1180717" cy="167268"/>
          </a:xfrm>
          <a:prstGeom prst="roundRect">
            <a:avLst>
              <a:gd name="adj" fmla="val 18000"/>
            </a:avLst>
          </a:prstGeom>
          <a:solidFill>
            <a:srgbClr val="FCE4EC"/>
          </a:solidFill>
          <a:ln w="19664">
            <a:solidFill>
              <a:srgbClr val="D81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880E4F"/>
                </a:solidFill>
                <a:latin typeface="Yu Gothic UI"/>
                <a:ea typeface="Yu Gothic UI"/>
              </a:rPr>
              <a:t>System.Web.Http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2832" y="1475896"/>
            <a:ext cx="1180717" cy="167268"/>
          </a:xfrm>
          <a:prstGeom prst="roundRect">
            <a:avLst>
              <a:gd name="adj" fmla="val 18000"/>
            </a:avLst>
          </a:prstGeom>
          <a:solidFill>
            <a:srgbClr val="FCE4EC"/>
          </a:solidFill>
          <a:ln w="19664">
            <a:solidFill>
              <a:srgbClr val="D81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880E4F"/>
                </a:solidFill>
                <a:latin typeface="Yu Gothic UI"/>
                <a:ea typeface="Yu Gothic UI"/>
              </a:rPr>
              <a:t>Http.WebHost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2832" y="1672682"/>
            <a:ext cx="1180717" cy="167268"/>
          </a:xfrm>
          <a:prstGeom prst="roundRect">
            <a:avLst>
              <a:gd name="adj" fmla="val 180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Newtonsoft.Json(他社)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1942" y="1062645"/>
            <a:ext cx="1298789" cy="1121681"/>
          </a:xfrm>
          <a:prstGeom prst="rect">
            <a:avLst/>
          </a:prstGeom>
          <a:solidFill>
            <a:srgbClr val="3B7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ASMX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50978" y="1279110"/>
            <a:ext cx="1180717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System.Web.Services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50978" y="1475896"/>
            <a:ext cx="1180717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WSDL・SOAP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30088" y="1062645"/>
            <a:ext cx="1377503" cy="1121681"/>
          </a:xfrm>
          <a:prstGeom prst="rect">
            <a:avLst/>
          </a:prstGeom>
          <a:solidFill>
            <a:srgbClr val="3B7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WCF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89124" y="1279110"/>
            <a:ext cx="1259431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System.ServiceModel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89124" y="1475896"/>
            <a:ext cx="1259431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Activation(.svc)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89124" y="1672682"/>
            <a:ext cx="1259431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IIS でのホスト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929" y="1928505"/>
            <a:ext cx="3581509" cy="255822"/>
          </a:xfrm>
          <a:prstGeom prst="rect">
            <a:avLst/>
          </a:prstGeom>
          <a:solidFill>
            <a:srgbClr val="6D9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1965" y="1967862"/>
            <a:ext cx="1951873" cy="167268"/>
          </a:xfrm>
          <a:prstGeom prst="roundRect">
            <a:avLst>
              <a:gd name="adj" fmla="val 18000"/>
            </a:avLst>
          </a:prstGeom>
          <a:solidFill>
            <a:srgbClr val="FCE4EC"/>
          </a:solidFill>
          <a:ln w="19664">
            <a:solidFill>
              <a:srgbClr val="D81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880E4F"/>
                </a:solidFill>
                <a:latin typeface="Yu Gothic UI"/>
                <a:ea typeface="Yu Gothic UI"/>
              </a:rPr>
              <a:t>バンドル: System.Web.Optimization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73356" y="1967862"/>
            <a:ext cx="1466303" cy="167268"/>
          </a:xfrm>
          <a:prstGeom prst="roundRect">
            <a:avLst>
              <a:gd name="adj" fmla="val 180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WebGrease(公開元は未確認)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46949" y="393572"/>
            <a:ext cx="1849790" cy="1790754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お客様のアプリ</a:t>
            </a:r>
          </a:p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全種類で共通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05985" y="767466"/>
            <a:ext cx="173171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Global.asax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05985" y="964252"/>
            <a:ext cx="173171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web.config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05985" y="1161038"/>
            <a:ext cx="173171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App_Code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05985" y="1357824"/>
            <a:ext cx="173171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クラスライブラリ(C#・VB)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05985" y="1554611"/>
            <a:ext cx="173171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参照する DLL・NuGet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19236" y="2184327"/>
            <a:ext cx="1377503" cy="708430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8619236" y="2656614"/>
            <a:ext cx="1377503" cy="19678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851" b="1">
                <a:solidFill>
                  <a:srgbClr val="FFFFFF"/>
                </a:solidFill>
                <a:latin typeface="Yu Gothic UI"/>
                <a:ea typeface="Yu Gothic UI"/>
              </a:rPr>
              <a:t>下の層も直接使う 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1523" y="2892757"/>
            <a:ext cx="905216" cy="432929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9091523" y="3128901"/>
            <a:ext cx="905216" cy="19678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851" b="1">
                <a:solidFill>
                  <a:srgbClr val="FFFFFF"/>
                </a:solidFill>
                <a:latin typeface="Yu Gothic UI"/>
                <a:ea typeface="Yu Gothic UI"/>
              </a:rPr>
              <a:t>直接 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929" y="2223684"/>
            <a:ext cx="8146949" cy="629715"/>
          </a:xfrm>
          <a:prstGeom prst="rect">
            <a:avLst/>
          </a:prstGeom>
          <a:solidFill>
            <a:srgbClr val="3B7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System.Web のコア ― 全種類で共通(Microsoft)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1965" y="2440149"/>
            <a:ext cx="1693591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HttpApplication・パイプライン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215074" y="2440149"/>
            <a:ext cx="1538622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HTTP モジュール・ハンドラー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83215" y="2440149"/>
            <a:ext cx="1874388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ルーティング(System.Web.Routing)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87121" y="2440149"/>
            <a:ext cx="1254512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セッション・キャッシュ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91965" y="2636935"/>
            <a:ext cx="1977701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フォーム認証・メンバーシップ・ロール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99185" y="2636935"/>
            <a:ext cx="1362990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web.config のセクション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91693" y="2636935"/>
            <a:ext cx="2654400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実行時コンパイル(Global.asax・App_Code・ページ)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929" y="2892757"/>
            <a:ext cx="8619236" cy="432929"/>
          </a:xfrm>
          <a:prstGeom prst="rect">
            <a:avLst/>
          </a:prstGeom>
          <a:solidFill>
            <a:srgbClr val="3B7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データ・その他のライブラリ ― 全種類で共通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1965" y="3109222"/>
            <a:ext cx="1698757" cy="167268"/>
          </a:xfrm>
          <a:prstGeom prst="roundRect">
            <a:avLst>
              <a:gd name="adj" fmla="val 18000"/>
            </a:avLst>
          </a:prstGeom>
          <a:solidFill>
            <a:srgbClr val="FCE4EC"/>
          </a:solidFill>
          <a:ln w="19664">
            <a:solidFill>
              <a:srgbClr val="D81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880E4F"/>
                </a:solidFill>
                <a:latin typeface="Yu Gothic UI"/>
                <a:ea typeface="Yu Gothic UI"/>
              </a:rPr>
              <a:t>Entity Framework(NuGet。EF6)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220240" y="3109222"/>
            <a:ext cx="743113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LINQ to SQL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992872" y="3109222"/>
            <a:ext cx="1724585" cy="167268"/>
          </a:xfrm>
          <a:prstGeom prst="roundRect">
            <a:avLst>
              <a:gd name="adj" fmla="val 18000"/>
            </a:avLst>
          </a:prstGeom>
          <a:solidFill>
            <a:srgbClr val="FCE4EC"/>
          </a:solidFill>
          <a:ln w="19664">
            <a:solidFill>
              <a:srgbClr val="D81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880E4F"/>
                </a:solidFill>
                <a:latin typeface="Yu Gothic UI"/>
                <a:ea typeface="Yu Gothic UI"/>
              </a:rPr>
              <a:t>System.Drawing(.NET 版で公開)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46975" y="3109222"/>
            <a:ext cx="1574781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構成(System.Configuration)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2929" y="3365044"/>
            <a:ext cx="9563810" cy="432929"/>
          </a:xfrm>
          <a:prstGeom prst="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.NET Framework 4.8 クラスライブラリ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91965" y="3581509"/>
            <a:ext cx="459003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System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0487" y="3581509"/>
            <a:ext cx="1869223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System.Data(ADO.NET・SqlClient)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879228" y="3581509"/>
            <a:ext cx="1538622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System.Xml(XmlSerializer)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447368" y="3581509"/>
            <a:ext cx="743113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System.Core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220000" y="3581509"/>
            <a:ext cx="1709088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System.Runtime.Serialization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2929" y="3837331"/>
            <a:ext cx="9563810" cy="491965"/>
          </a:xfrm>
          <a:prstGeom prst="rect">
            <a:avLst/>
          </a:prstGeom>
          <a:solidFill>
            <a:srgbClr val="3E2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mscorlib + CLR 4(一組で動く)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91965" y="4053796"/>
            <a:ext cx="3599712" cy="167268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mscorlib: object・string・double・CultureInfo・BinaryFormatter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121195" y="4053796"/>
            <a:ext cx="2225652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CLR 4(clr.dll): JIT・GC・double の書式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2929" y="4368654"/>
            <a:ext cx="9563810" cy="491965"/>
          </a:xfrm>
          <a:prstGeom prst="rect">
            <a:avLst/>
          </a:prstGeom>
          <a:solidFill>
            <a:srgbClr val="2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IIS ― ネイティブ(C++)。.NET をプロセス(w3wp)に載せる側・統合パイプライン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91965" y="4585119"/>
            <a:ext cx="1311334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アプリケーション プール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832817" y="4585119"/>
            <a:ext cx="743113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URL Rewrite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605449" y="4585119"/>
            <a:ext cx="737948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静的ファイル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372915" y="4585119"/>
            <a:ext cx="856758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customHeaders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59191" y="4585119"/>
            <a:ext cx="551985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W3C ログ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840695" y="4585119"/>
            <a:ext cx="779273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Windows 認証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127271" y="4408011"/>
            <a:ext cx="1656448" cy="196786"/>
          </a:xfrm>
          <a:prstGeom prst="roundRect">
            <a:avLst>
              <a:gd name="adj" fmla="val 18000"/>
            </a:avLst>
          </a:prstGeom>
          <a:solidFill>
            <a:srgbClr val="F2C200"/>
          </a:solidFill>
          <a:ln w="1474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ctr"/>
            <a:r>
              <a:rPr sz="851" b="1">
                <a:solidFill>
                  <a:srgbClr val="333333"/>
                </a:solidFill>
                <a:latin typeface="Yu Gothic UI"/>
                <a:ea typeface="Yu Gothic UI"/>
              </a:rPr>
              <a:t>HTTP サーバー(要求を受ける)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2929" y="4899977"/>
            <a:ext cx="9563810" cy="491965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Windows Server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91965" y="5116441"/>
            <a:ext cx="572647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http.sys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94131" y="5116441"/>
            <a:ext cx="345359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NTFS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469009" y="5116441"/>
            <a:ext cx="1228684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NLS(カルチャのデータ)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727211" y="5116441"/>
            <a:ext cx="737948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タイムゾーン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494677" y="5116441"/>
            <a:ext cx="345359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GDI+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869555" y="5116441"/>
            <a:ext cx="572647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SChannel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32929" y="5431299"/>
            <a:ext cx="9563810" cy="295179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サーバー(x64 の物理マシン・仮想マシン)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035" y="1062645"/>
            <a:ext cx="314857" cy="3266651"/>
          </a:xfrm>
          <a:prstGeom prst="rect">
            <a:avLst/>
          </a:prstGeom>
          <a:solidFill>
            <a:srgbClr val="6D9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 vert="eaVert"/>
          <a:lstStyle/>
          <a:p>
            <a:pPr algn="ctr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言語パック(サテライト。非公開)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095133" y="393572"/>
            <a:ext cx="2046576" cy="5942944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10154169" y="452608"/>
            <a:ext cx="1928505" cy="216464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開発・配置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213205" y="669073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Visual Studio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213205" y="865859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FCE4EC"/>
          </a:solidFill>
          <a:ln w="19664">
            <a:solidFill>
              <a:srgbClr val="D81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880E4F"/>
                </a:solidFill>
                <a:latin typeface="Yu Gothic UI"/>
                <a:ea typeface="Yu Gothic UI"/>
              </a:rPr>
              <a:t>MSBuild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213205" y="1062645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Web Deploy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213205" y="1259431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IIS マネージャー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213205" y="1456218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SQL Server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4169" y="2676292"/>
            <a:ext cx="1928505" cy="1908826"/>
          </a:xfrm>
          <a:prstGeom prst="rect">
            <a:avLst/>
          </a:prstGeom>
          <a:solidFill>
            <a:srgbClr val="FFFFFF"/>
          </a:solidFill>
          <a:ln w="9832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333333"/>
                </a:solidFill>
                <a:latin typeface="Yu Gothic UI"/>
                <a:ea typeface="Yu Gothic UI"/>
              </a:rPr>
              <a:t>ソースの公開(項目の色と枠)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232883" y="2932114"/>
            <a:ext cx="590358" cy="177107"/>
          </a:xfrm>
          <a:prstGeom prst="roundRect">
            <a:avLst>
              <a:gd name="adj" fmla="val 18000"/>
            </a:avLst>
          </a:prstGeom>
          <a:solidFill>
            <a:srgbClr val="E9F7EC"/>
          </a:solidFill>
          <a:ln w="19664">
            <a:solidFill>
              <a:srgbClr val="2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1B5E20"/>
                </a:solidFill>
                <a:latin typeface="Yu Gothic UI"/>
                <a:ea typeface="Yu Gothic UI"/>
              </a:rPr>
              <a:t>項目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862599" y="2902596"/>
            <a:ext cx="1161038" cy="5116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851" b="0">
                <a:solidFill>
                  <a:srgbClr val="333333"/>
                </a:solidFill>
                <a:latin typeface="Yu Gothic UI"/>
                <a:ea typeface="Yu Gothic UI"/>
              </a:rPr>
              <a:t>referencesource(MIT)にソースがある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232883" y="3483116"/>
            <a:ext cx="590358" cy="177107"/>
          </a:xfrm>
          <a:prstGeom prst="roundRect">
            <a:avLst>
              <a:gd name="adj" fmla="val 18000"/>
            </a:avLst>
          </a:prstGeom>
          <a:solidFill>
            <a:srgbClr val="FCE4EC"/>
          </a:solidFill>
          <a:ln w="19664">
            <a:solidFill>
              <a:srgbClr val="D81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880E4F"/>
                </a:solidFill>
                <a:latin typeface="Yu Gothic UI"/>
                <a:ea typeface="Yu Gothic UI"/>
              </a:rPr>
              <a:t>項目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862599" y="3453598"/>
            <a:ext cx="1161038" cy="5116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851" b="0">
                <a:solidFill>
                  <a:srgbClr val="333333"/>
                </a:solidFill>
                <a:latin typeface="Yu Gothic UI"/>
                <a:ea typeface="Yu Gothic UI"/>
              </a:rPr>
              <a:t>Microsoft が別に公開(GitHub。Apache 2.0・MIT)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232883" y="4034117"/>
            <a:ext cx="590358" cy="177107"/>
          </a:xfrm>
          <a:prstGeom prst="roundRect">
            <a:avLst>
              <a:gd name="adj" fmla="val 18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666666"/>
                </a:solidFill>
                <a:latin typeface="Yu Gothic UI"/>
                <a:ea typeface="Yu Gothic UI"/>
              </a:rPr>
              <a:t>項目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862599" y="4004599"/>
            <a:ext cx="1161038" cy="5116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851" b="0">
                <a:solidFill>
                  <a:srgbClr val="333333"/>
                </a:solidFill>
                <a:latin typeface="Yu Gothic UI"/>
                <a:ea typeface="Yu Gothic UI"/>
              </a:rPr>
              <a:t>ソースは非公開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154169" y="4644154"/>
            <a:ext cx="1928505" cy="1672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851" b="0">
                <a:solidFill>
                  <a:srgbClr val="333333"/>
                </a:solidFill>
                <a:latin typeface="Yu Gothic UI"/>
                <a:ea typeface="Yu Gothic UI"/>
              </a:rPr>
              <a:t>見方: 縦に並ぶ箱は、その上のアプリの種類が使う部品。横に広い箱は全種類で共通。右の階段は、アプリが直接使う層(段ごとにその下の層に載る)。左の縦の帯は、いくつもの層の部品に付くもの。黄色の印は要求を受ける HTTP サーバー:IIS は .NET を載せる側、Kestrel は .NET の上のライブラリなので、段が違う。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37750" y="6572659"/>
            <a:ext cx="137750" cy="137750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04" name="Rectangle 103"/>
          <p:cNvSpPr/>
          <p:nvPr/>
        </p:nvSpPr>
        <p:spPr>
          <a:xfrm>
            <a:off x="295179" y="6533302"/>
            <a:ext cx="983931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お客様のアプリ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97182" y="6572659"/>
            <a:ext cx="137750" cy="137750"/>
          </a:xfrm>
          <a:prstGeom prst="rect">
            <a:avLst/>
          </a:prstGeom>
          <a:solidFill>
            <a:srgbClr val="3B7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06" name="Rectangle 105"/>
          <p:cNvSpPr/>
          <p:nvPr/>
        </p:nvSpPr>
        <p:spPr>
          <a:xfrm>
            <a:off x="1554611" y="6533302"/>
            <a:ext cx="1780915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Microsoft(.NET Framework)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453598" y="6572659"/>
            <a:ext cx="137750" cy="137750"/>
          </a:xfrm>
          <a:prstGeom prst="rect">
            <a:avLst/>
          </a:prstGeom>
          <a:solidFill>
            <a:srgbClr val="6D9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08" name="Rectangle 107"/>
          <p:cNvSpPr/>
          <p:nvPr/>
        </p:nvSpPr>
        <p:spPr>
          <a:xfrm>
            <a:off x="3611027" y="6533302"/>
            <a:ext cx="1904890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Microsoft(NuGet・言語パック)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633989" y="6572659"/>
            <a:ext cx="137750" cy="137750"/>
          </a:xfrm>
          <a:prstGeom prst="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10" name="Rectangle 109"/>
          <p:cNvSpPr/>
          <p:nvPr/>
        </p:nvSpPr>
        <p:spPr>
          <a:xfrm>
            <a:off x="5791418" y="6533302"/>
            <a:ext cx="1721879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.NET Framework の実行環境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31369" y="6572659"/>
            <a:ext cx="137750" cy="137750"/>
          </a:xfrm>
          <a:prstGeom prst="rect">
            <a:avLst/>
          </a:prstGeom>
          <a:solidFill>
            <a:srgbClr val="2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12" name="Rectangle 111"/>
          <p:cNvSpPr/>
          <p:nvPr/>
        </p:nvSpPr>
        <p:spPr>
          <a:xfrm>
            <a:off x="7788798" y="6533302"/>
            <a:ext cx="889473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Web サーバー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796344" y="6572659"/>
            <a:ext cx="137750" cy="1377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14" name="Rectangle 113"/>
          <p:cNvSpPr/>
          <p:nvPr/>
        </p:nvSpPr>
        <p:spPr>
          <a:xfrm>
            <a:off x="8953773" y="6533302"/>
            <a:ext cx="287307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071" y="39357"/>
            <a:ext cx="11964602" cy="3148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l"/>
            <a:r>
              <a:rPr sz="1625" b="1">
                <a:solidFill>
                  <a:srgbClr val="333333"/>
                </a:solidFill>
                <a:latin typeface="Yu Gothic UI"/>
                <a:ea typeface="Yu Gothic UI"/>
              </a:rPr>
              <a:t>② Windows / Linux サーバー + .NET 10(そのまま移すと)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929" y="393572"/>
            <a:ext cx="2164648" cy="629715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Web Forms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1965" y="610037"/>
            <a:ext cx="531322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動かない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2806" y="610037"/>
            <a:ext cx="1249346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作り直し(Blazor など)</a:t>
            </a:r>
          </a:p>
        </p:txBody>
      </p:sp>
      <p:sp>
        <p:nvSpPr>
          <p:cNvPr id="6" name="Rectangle 5"/>
          <p:cNvSpPr/>
          <p:nvPr/>
        </p:nvSpPr>
        <p:spPr>
          <a:xfrm>
            <a:off x="2636935" y="393572"/>
            <a:ext cx="1377503" cy="629715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MVC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5971" y="610037"/>
            <a:ext cx="1146033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Core MVC に書き直し</a:t>
            </a:r>
          </a:p>
        </p:txBody>
      </p:sp>
      <p:sp>
        <p:nvSpPr>
          <p:cNvPr id="8" name="Rectangle 7"/>
          <p:cNvSpPr/>
          <p:nvPr/>
        </p:nvSpPr>
        <p:spPr>
          <a:xfrm>
            <a:off x="4053796" y="393572"/>
            <a:ext cx="1298789" cy="629715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Web API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2832" y="610037"/>
            <a:ext cx="918745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Core に書き直し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1942" y="393572"/>
            <a:ext cx="1298789" cy="629715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ASMX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50978" y="610037"/>
            <a:ext cx="531322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動かない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30088" y="393572"/>
            <a:ext cx="1377503" cy="629715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WCF サービス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9124" y="610037"/>
            <a:ext cx="882586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CoreWCF に移す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929" y="1062645"/>
            <a:ext cx="2164648" cy="1082324"/>
          </a:xfrm>
          <a:prstGeom prst="rect">
            <a:avLst/>
          </a:prstGeom>
          <a:solidFill>
            <a:srgbClr val="FFFFFF"/>
          </a:solidFill>
          <a:ln w="19664">
            <a:solidFill>
              <a:srgbClr val="D32F2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D32F2F"/>
                </a:solidFill>
                <a:latin typeface="Yu Gothic UI"/>
                <a:ea typeface="Yu Gothic UI"/>
              </a:rPr>
              <a:t>System.Web.UI は無い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1965" y="1279110"/>
            <a:ext cx="2046576" cy="167268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AJAX・Chart・Dynamic Data・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1965" y="1475896"/>
            <a:ext cx="2046576" cy="167268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Mobile・バンドルも無い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6935" y="1062645"/>
            <a:ext cx="1377503" cy="1082324"/>
          </a:xfrm>
          <a:prstGeom prst="rect">
            <a:avLst/>
          </a:prstGeom>
          <a:solidFill>
            <a:srgbClr val="3B7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ASP.NET Core MVC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5971" y="1279110"/>
            <a:ext cx="1259431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Razor(新しい版)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5971" y="1475896"/>
            <a:ext cx="1259431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バンドルは別の仕組み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53796" y="1062645"/>
            <a:ext cx="1298789" cy="1082324"/>
          </a:xfrm>
          <a:prstGeom prst="rect">
            <a:avLst/>
          </a:prstGeom>
          <a:solidFill>
            <a:srgbClr val="3B7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ASP.NET 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2832" y="1279110"/>
            <a:ext cx="1180717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Minimal API など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2832" y="1475896"/>
            <a:ext cx="1180717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System.Text.Json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1942" y="1062645"/>
            <a:ext cx="1298789" cy="1082324"/>
          </a:xfrm>
          <a:prstGeom prst="rect">
            <a:avLst/>
          </a:prstGeom>
          <a:solidFill>
            <a:srgbClr val="FFFFFF"/>
          </a:solidFill>
          <a:ln w="19664">
            <a:solidFill>
              <a:srgbClr val="D32F2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D32F2F"/>
                </a:solidFill>
                <a:latin typeface="Yu Gothic UI"/>
                <a:ea typeface="Yu Gothic UI"/>
              </a:rPr>
              <a:t>ASMX は無い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30088" y="1062645"/>
            <a:ext cx="1377503" cy="1082324"/>
          </a:xfrm>
          <a:prstGeom prst="rect">
            <a:avLst/>
          </a:prstGeom>
          <a:solidFill>
            <a:srgbClr val="6D9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CoreWCF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89124" y="1279110"/>
            <a:ext cx="1259431" cy="167268"/>
          </a:xfrm>
          <a:prstGeom prst="roundRect">
            <a:avLst>
              <a:gd name="adj" fmla="val 180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.svc・basicHttp など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89124" y="1475896"/>
            <a:ext cx="1259431" cy="167268"/>
          </a:xfrm>
          <a:prstGeom prst="roundRect">
            <a:avLst>
              <a:gd name="adj" fmla="val 180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一部の機能は無い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46949" y="393572"/>
            <a:ext cx="1849790" cy="1751397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お客様のアプリ</a:t>
            </a:r>
          </a:p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全種類で共通(作り直し)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05985" y="767466"/>
            <a:ext cx="173171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Global.asax → Program.cs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05985" y="964252"/>
            <a:ext cx="173171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web.config → JSON 構成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05985" y="1161038"/>
            <a:ext cx="173171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App_Code は動かない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05985" y="1357824"/>
            <a:ext cx="173171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ライブラリを .NET 向けに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19236" y="2144969"/>
            <a:ext cx="1377503" cy="708430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8619236" y="2617256"/>
            <a:ext cx="1377503" cy="19678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851" b="1">
                <a:solidFill>
                  <a:srgbClr val="FFFFFF"/>
                </a:solidFill>
                <a:latin typeface="Yu Gothic UI"/>
                <a:ea typeface="Yu Gothic UI"/>
              </a:rPr>
              <a:t>下の層も直接使う 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1523" y="2853400"/>
            <a:ext cx="905216" cy="432929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91523" y="3089543"/>
            <a:ext cx="905216" cy="19678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851" b="1">
                <a:solidFill>
                  <a:srgbClr val="FFFFFF"/>
                </a:solidFill>
                <a:latin typeface="Yu Gothic UI"/>
                <a:ea typeface="Yu Gothic UI"/>
              </a:rPr>
              <a:t>直接 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929" y="2184327"/>
            <a:ext cx="8146949" cy="629715"/>
          </a:xfrm>
          <a:prstGeom prst="rect">
            <a:avLst/>
          </a:prstGeom>
          <a:solidFill>
            <a:srgbClr val="3B7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ASP.NET Core ― 全種類の土台(System.Web とは別物。System.Web のコアは無い)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1965" y="2400791"/>
            <a:ext cx="1740082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Kestrel(.NET の上のライブラリ)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61565" y="2400791"/>
            <a:ext cx="737948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ミドルウェア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29031" y="2400791"/>
            <a:ext cx="954905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ルーティング(新)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13455" y="2400791"/>
            <a:ext cx="1368156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セッション(仕組みが違う)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11129" y="2400791"/>
            <a:ext cx="1280340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Cookie 認証・Identity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20987" y="2400791"/>
            <a:ext cx="1151199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実行時コンパイル無し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10410" y="2223684"/>
            <a:ext cx="1656448" cy="196786"/>
          </a:xfrm>
          <a:prstGeom prst="roundRect">
            <a:avLst>
              <a:gd name="adj" fmla="val 18000"/>
            </a:avLst>
          </a:prstGeom>
          <a:solidFill>
            <a:srgbClr val="F2C200"/>
          </a:solidFill>
          <a:ln w="1474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ctr"/>
            <a:r>
              <a:rPr sz="851" b="1">
                <a:solidFill>
                  <a:srgbClr val="333333"/>
                </a:solidFill>
                <a:latin typeface="Yu Gothic UI"/>
                <a:ea typeface="Yu Gothic UI"/>
              </a:rPr>
              <a:t>HTTP サーバー(要求を受ける)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929" y="2853400"/>
            <a:ext cx="8619236" cy="432929"/>
          </a:xfrm>
          <a:prstGeom prst="rect">
            <a:avLst/>
          </a:prstGeom>
          <a:solidFill>
            <a:srgbClr val="3B7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.NET のライブラリ ― 全種類で共通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1965" y="3069865"/>
            <a:ext cx="1481800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Microsoft.Data.SqlClient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03283" y="3069865"/>
            <a:ext cx="789604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EF Core・EF6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22406" y="3069865"/>
            <a:ext cx="2086179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System.Drawing.Common(Windows のみ)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38104" y="3069865"/>
            <a:ext cx="1063383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LINQ to SQL(無し)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31005" y="3069865"/>
            <a:ext cx="1347493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構成(appsettings.json)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2929" y="3325687"/>
            <a:ext cx="9563810" cy="432929"/>
          </a:xfrm>
          <a:prstGeom prst="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.NET 10 クラスライブラリ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1965" y="3542152"/>
            <a:ext cx="1368156" cy="167268"/>
          </a:xfrm>
          <a:prstGeom prst="roundRect">
            <a:avLst>
              <a:gd name="adj" fmla="val 18000"/>
            </a:avLst>
          </a:prstGeom>
          <a:solidFill>
            <a:srgbClr val="EF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System.Data(DataTable)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89639" y="3542152"/>
            <a:ext cx="1538622" cy="167268"/>
          </a:xfrm>
          <a:prstGeom prst="roundRect">
            <a:avLst>
              <a:gd name="adj" fmla="val 18000"/>
            </a:avLst>
          </a:prstGeom>
          <a:solidFill>
            <a:srgbClr val="EF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System.Xml(XmlSerializer)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57779" y="3542152"/>
            <a:ext cx="1027224" cy="167268"/>
          </a:xfrm>
          <a:prstGeom prst="roundRect">
            <a:avLst>
              <a:gd name="adj" fmla="val 18000"/>
            </a:avLst>
          </a:prstGeom>
          <a:solidFill>
            <a:srgbClr val="EF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System.Text.Json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14522" y="3542152"/>
            <a:ext cx="970402" cy="167268"/>
          </a:xfrm>
          <a:prstGeom prst="roundRect">
            <a:avLst>
              <a:gd name="adj" fmla="val 18000"/>
            </a:avLst>
          </a:prstGeom>
          <a:solidFill>
            <a:srgbClr val="EF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System.Net.Http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514442" y="3542152"/>
            <a:ext cx="1600609" cy="167268"/>
          </a:xfrm>
          <a:prstGeom prst="roundRect">
            <a:avLst>
              <a:gd name="adj" fmla="val 18000"/>
            </a:avLst>
          </a:prstGeom>
          <a:solidFill>
            <a:srgbClr val="EF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BinaryFormatter(削除・例外)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2929" y="3797974"/>
            <a:ext cx="9563810" cy="491965"/>
          </a:xfrm>
          <a:prstGeom prst="rect">
            <a:avLst/>
          </a:prstGeom>
          <a:solidFill>
            <a:srgbClr val="3E2470"/>
          </a:solidFill>
          <a:ln w="39329">
            <a:solidFill>
              <a:srgbClr val="F2C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System.Private.CoreLib + CoreCLR(一組)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1965" y="4014439"/>
            <a:ext cx="2587246" cy="167268"/>
          </a:xfrm>
          <a:prstGeom prst="roundRect">
            <a:avLst>
              <a:gd name="adj" fmla="val 18000"/>
            </a:avLst>
          </a:prstGeom>
          <a:solidFill>
            <a:srgbClr val="E8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CoreLib: object・string・double・CultureInfo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108730" y="4014439"/>
            <a:ext cx="2483934" cy="167268"/>
          </a:xfrm>
          <a:prstGeom prst="roundRect">
            <a:avLst>
              <a:gd name="adj" fmla="val 18000"/>
            </a:avLst>
          </a:prstGeom>
          <a:solidFill>
            <a:srgbClr val="E8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double の書式・Parse・カルチャは .NET の動き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61807" y="3847170"/>
            <a:ext cx="1436539" cy="196786"/>
          </a:xfrm>
          <a:prstGeom prst="roundRect">
            <a:avLst>
              <a:gd name="adj" fmla="val 18000"/>
            </a:avLst>
          </a:prstGeom>
          <a:solidFill>
            <a:srgbClr val="D32F2F"/>
          </a:solidFill>
          <a:ln w="1474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ctr"/>
            <a:r>
              <a:rPr sz="851" b="1">
                <a:solidFill>
                  <a:srgbClr val="FFFFFF"/>
                </a:solidFill>
                <a:latin typeface="Yu Gothic UI"/>
                <a:ea typeface="Yu Gothic UI"/>
              </a:rPr>
              <a:t>例外: 差し替え不可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2929" y="4329296"/>
            <a:ext cx="4781905" cy="491965"/>
          </a:xfrm>
          <a:prstGeom prst="rect">
            <a:avLst/>
          </a:prstGeom>
          <a:solidFill>
            <a:srgbClr val="2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プロセスを載せる(Windows)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1965" y="4545761"/>
            <a:ext cx="686291" cy="167268"/>
          </a:xfrm>
          <a:prstGeom prst="roundRect">
            <a:avLst>
              <a:gd name="adj" fmla="val 18000"/>
            </a:avLst>
          </a:prstGeom>
          <a:solidFill>
            <a:srgbClr val="E5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IIS + ANCM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07775" y="4545761"/>
            <a:ext cx="1776241" cy="167268"/>
          </a:xfrm>
          <a:prstGeom prst="roundRect">
            <a:avLst>
              <a:gd name="adj" fmla="val 18000"/>
            </a:avLst>
          </a:prstGeom>
          <a:solidFill>
            <a:srgbClr val="E5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Kestrel に転送(アウト プロセス)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013535" y="4545761"/>
            <a:ext cx="1605775" cy="167268"/>
          </a:xfrm>
          <a:prstGeom prst="roundRect">
            <a:avLst>
              <a:gd name="adj" fmla="val 18000"/>
            </a:avLst>
          </a:prstGeom>
          <a:solidFill>
            <a:srgbClr val="E5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.NET を載せる(イン プロセス)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4192" y="4329296"/>
            <a:ext cx="4742548" cy="491965"/>
          </a:xfrm>
          <a:prstGeom prst="rect">
            <a:avLst/>
          </a:prstGeom>
          <a:solidFill>
            <a:srgbClr val="2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プロセスを載せる(Linux)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13228" y="4545761"/>
            <a:ext cx="960070" cy="167268"/>
          </a:xfrm>
          <a:prstGeom prst="roundRect">
            <a:avLst>
              <a:gd name="adj" fmla="val 18000"/>
            </a:avLst>
          </a:prstGeom>
          <a:solidFill>
            <a:srgbClr val="E5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systemd・Docker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02816" y="4545761"/>
            <a:ext cx="2241149" cy="167268"/>
          </a:xfrm>
          <a:prstGeom prst="roundRect">
            <a:avLst>
              <a:gd name="adj" fmla="val 18000"/>
            </a:avLst>
          </a:prstGeom>
          <a:solidFill>
            <a:srgbClr val="E5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nginx・Apache(任意。Kestrel に転送する)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2929" y="4860619"/>
            <a:ext cx="4781905" cy="491965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Windows Server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1965" y="5077084"/>
            <a:ext cx="345359" cy="167268"/>
          </a:xfrm>
          <a:prstGeom prst="roundRect">
            <a:avLst>
              <a:gd name="adj" fmla="val 18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NTFS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66843" y="5077084"/>
            <a:ext cx="882586" cy="167268"/>
          </a:xfrm>
          <a:prstGeom prst="roundRect">
            <a:avLst>
              <a:gd name="adj" fmla="val 18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NLS または ICU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778947" y="5077084"/>
            <a:ext cx="737948" cy="167268"/>
          </a:xfrm>
          <a:prstGeom prst="roundRect">
            <a:avLst>
              <a:gd name="adj" fmla="val 18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タイムゾーン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546413" y="5077084"/>
            <a:ext cx="345359" cy="167268"/>
          </a:xfrm>
          <a:prstGeom prst="roundRect">
            <a:avLst>
              <a:gd name="adj" fmla="val 18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GDI+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54192" y="4860619"/>
            <a:ext cx="4742548" cy="491965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Linux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313228" y="5077084"/>
            <a:ext cx="1662597" cy="167268"/>
          </a:xfrm>
          <a:prstGeom prst="roundRect">
            <a:avLst>
              <a:gd name="adj" fmla="val 18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ext4・xfs(大文字小文字を区別)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005343" y="5077084"/>
            <a:ext cx="288537" cy="167268"/>
          </a:xfrm>
          <a:prstGeom prst="roundRect">
            <a:avLst>
              <a:gd name="adj" fmla="val 18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ICU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23399" y="5077084"/>
            <a:ext cx="1125371" cy="167268"/>
          </a:xfrm>
          <a:prstGeom prst="roundRect">
            <a:avLst>
              <a:gd name="adj" fmla="val 18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IANA のタイムゾーン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478288" y="5077084"/>
            <a:ext cx="608807" cy="167268"/>
          </a:xfrm>
          <a:prstGeom prst="roundRect">
            <a:avLst>
              <a:gd name="adj" fmla="val 18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GDI+ なし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2929" y="5391942"/>
            <a:ext cx="9563810" cy="295179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サーバー・コンテナ・クラウド(x64・ARM64)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035" y="1062645"/>
            <a:ext cx="314857" cy="3227294"/>
          </a:xfrm>
          <a:prstGeom prst="rect">
            <a:avLst/>
          </a:prstGeom>
          <a:solidFill>
            <a:srgbClr val="FFFFFF"/>
          </a:solidFill>
          <a:ln w="19664">
            <a:solidFill>
              <a:srgbClr val="D32F2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 vert="eaVert"/>
          <a:lstStyle/>
          <a:p>
            <a:pPr algn="ctr"/>
            <a:r>
              <a:rPr sz="929" b="1">
                <a:solidFill>
                  <a:srgbClr val="D32F2F"/>
                </a:solidFill>
                <a:latin typeface="Yu Gothic UI"/>
                <a:ea typeface="Yu Gothic UI"/>
              </a:rPr>
              <a:t>言語パックは無い(英語)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95133" y="393572"/>
            <a:ext cx="2046576" cy="5942944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10154169" y="452608"/>
            <a:ext cx="1928505" cy="413251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開発・配置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213205" y="669073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Visual Studio・VS Code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213205" y="865859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dotnet CLI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213205" y="1062645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Docker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213205" y="1259431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GitHub Actions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54169" y="4644154"/>
            <a:ext cx="1928505" cy="1672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851" b="0">
                <a:solidFill>
                  <a:srgbClr val="333333"/>
                </a:solidFill>
                <a:latin typeface="Yu Gothic UI"/>
                <a:ea typeface="Yu Gothic UI"/>
              </a:rPr>
              <a:t>見方: 縦に並ぶ箱は、その上のアプリの種類が使う部品。横に広い箱は全種類で共通。右の階段は、アプリが直接使う層(段ごとにその下の層に載る)。左の縦の帯は、いくつもの層の部品に付くもの。黄色の印は要求を受ける HTTP サーバー:IIS は .NET を載せる側、Kestrel は .NET の上のライブラリなので、段が違う。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7750" y="6572659"/>
            <a:ext cx="137750" cy="137750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95179" y="6533302"/>
            <a:ext cx="983931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お客様のアプリ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97182" y="6572659"/>
            <a:ext cx="137750" cy="137750"/>
          </a:xfrm>
          <a:prstGeom prst="rect">
            <a:avLst/>
          </a:prstGeom>
          <a:solidFill>
            <a:srgbClr val="3B7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1554611" y="6533302"/>
            <a:ext cx="741884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Microsoft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414567" y="6572659"/>
            <a:ext cx="137750" cy="137750"/>
          </a:xfrm>
          <a:prstGeom prst="rect">
            <a:avLst/>
          </a:prstGeom>
          <a:solidFill>
            <a:srgbClr val="6D9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2571995" y="6533302"/>
            <a:ext cx="865859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コミュニティ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555927" y="6572659"/>
            <a:ext cx="137750" cy="137750"/>
          </a:xfrm>
          <a:prstGeom prst="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3713356" y="6533302"/>
            <a:ext cx="1072484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.NET の実行環境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03912" y="6572659"/>
            <a:ext cx="137750" cy="137750"/>
          </a:xfrm>
          <a:prstGeom prst="rect">
            <a:avLst/>
          </a:prstGeom>
          <a:solidFill>
            <a:srgbClr val="3E2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5061341" y="6533302"/>
            <a:ext cx="2235491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CoreLib + ランタイム(差し替え不可)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414905" y="6572659"/>
            <a:ext cx="137750" cy="137750"/>
          </a:xfrm>
          <a:prstGeom prst="rect">
            <a:avLst/>
          </a:prstGeom>
          <a:solidFill>
            <a:srgbClr val="2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7572334" y="6533302"/>
            <a:ext cx="1102002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プロセスのホスト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792408" y="6572659"/>
            <a:ext cx="137750" cy="1377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99" name="Rectangle 98"/>
          <p:cNvSpPr/>
          <p:nvPr/>
        </p:nvSpPr>
        <p:spPr>
          <a:xfrm>
            <a:off x="8949837" y="6533302"/>
            <a:ext cx="287307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071" y="39357"/>
            <a:ext cx="11964602" cy="3148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l"/>
            <a:r>
              <a:rPr sz="1625" b="1">
                <a:solidFill>
                  <a:srgbClr val="333333"/>
                </a:solidFill>
                <a:latin typeface="Yu Gothic UI"/>
                <a:ea typeface="Yu Gothic UI"/>
              </a:rPr>
              <a:t>③ Windows / Linux サーバー + FrameworkOnCore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929" y="393572"/>
            <a:ext cx="2164648" cy="629715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Web Forms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1965" y="610037"/>
            <a:ext cx="1290671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.aspx・.ascx・.master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1965" y="806823"/>
            <a:ext cx="944573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コードビハインド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2636935" y="393572"/>
            <a:ext cx="1377503" cy="629715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MVC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5971" y="610037"/>
            <a:ext cx="686291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5971" y="806823"/>
            <a:ext cx="913580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.cshtml(Razor)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053796" y="393572"/>
            <a:ext cx="1298789" cy="629715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Web API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2832" y="610037"/>
            <a:ext cx="85675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ApiController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2832" y="806823"/>
            <a:ext cx="61913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JSON・XML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1942" y="393572"/>
            <a:ext cx="1298789" cy="629715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ASMX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50978" y="610037"/>
            <a:ext cx="743113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.asmx(SOAP)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30088" y="393572"/>
            <a:ext cx="1377503" cy="629715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WCF サービス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89124" y="610037"/>
            <a:ext cx="345359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.svc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64002" y="610037"/>
            <a:ext cx="799936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serviceModel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929" y="1062645"/>
            <a:ext cx="2164648" cy="76746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FrameworkOnCore(移植)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1965" y="1279110"/>
            <a:ext cx="2046576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System.Web.UI(ページ・コントロール)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1965" y="1475896"/>
            <a:ext cx="2046576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ASP.NET AJAX(Extensions)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1965" y="1672682"/>
            <a:ext cx="2046576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Chart・Dynamic Data・Mobile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36935" y="1062645"/>
            <a:ext cx="1377503" cy="76746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MVC 5(移植)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5971" y="1279110"/>
            <a:ext cx="1259431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System.Web.Mvc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5971" y="1475896"/>
            <a:ext cx="1259431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Razor 3・WebPages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5971" y="1672682"/>
            <a:ext cx="1259431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AspNetWebStack から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3796" y="1062645"/>
            <a:ext cx="1298789" cy="1042967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Web API 2(移植)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2832" y="1279110"/>
            <a:ext cx="1180717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System.Web.Http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2832" y="1475896"/>
            <a:ext cx="1180717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Http.WebHost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2832" y="1672682"/>
            <a:ext cx="1180717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Newtonsoft.Json(他社)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1942" y="1062645"/>
            <a:ext cx="1298789" cy="1042967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ASMX(移植)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50978" y="1279110"/>
            <a:ext cx="1180717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System.Web.Services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50978" y="1475896"/>
            <a:ext cx="1180717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WSDL・SOAP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30088" y="1062645"/>
            <a:ext cx="1377503" cy="1042967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CoreWCF + FOC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89124" y="1279110"/>
            <a:ext cx="1259431" cy="167268"/>
          </a:xfrm>
          <a:prstGeom prst="roundRect">
            <a:avLst>
              <a:gd name="adj" fmla="val 18000"/>
            </a:avLst>
          </a:prstGeom>
          <a:solidFill>
            <a:srgbClr val="FB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CoreWCF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89124" y="1475896"/>
            <a:ext cx="1259431" cy="167268"/>
          </a:xfrm>
          <a:prstGeom prst="roundRect">
            <a:avLst>
              <a:gd name="adj" fmla="val 18000"/>
            </a:avLst>
          </a:prstGeom>
          <a:solidFill>
            <a:srgbClr val="FB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ServiceModel(.svc)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89124" y="1672682"/>
            <a:ext cx="1259431" cy="167268"/>
          </a:xfrm>
          <a:prstGeom prst="roundRect">
            <a:avLst>
              <a:gd name="adj" fmla="val 18000"/>
            </a:avLst>
          </a:prstGeom>
          <a:solidFill>
            <a:srgbClr val="FB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AspNetCompatibility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929" y="1869469"/>
            <a:ext cx="3581509" cy="236143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バンドル(System.Web.Optimization・WebGrease。移植)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46949" y="393572"/>
            <a:ext cx="1849790" cy="1712040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お客様のアプリ</a:t>
            </a:r>
          </a:p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全種類で共通(ほぼそのまま)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05985" y="767466"/>
            <a:ext cx="173171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Global.asax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05985" y="964252"/>
            <a:ext cx="173171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web.config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05985" y="1161038"/>
            <a:ext cx="173171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App_Code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05985" y="1357824"/>
            <a:ext cx="173171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クラスライブラリ(C#・VB)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05985" y="1554611"/>
            <a:ext cx="1731718" cy="167268"/>
          </a:xfrm>
          <a:prstGeom prst="roundRect">
            <a:avLst>
              <a:gd name="adj" fmla="val 18000"/>
            </a:avLst>
          </a:prstGeom>
          <a:solidFill>
            <a:srgbClr val="FE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参照する DLL(付け替え)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19236" y="2105612"/>
            <a:ext cx="1377503" cy="708430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8619236" y="2577899"/>
            <a:ext cx="1377503" cy="19678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851" b="1">
                <a:solidFill>
                  <a:srgbClr val="FFFFFF"/>
                </a:solidFill>
                <a:latin typeface="Yu Gothic UI"/>
                <a:ea typeface="Yu Gothic UI"/>
              </a:rPr>
              <a:t>下の層も直接使う 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1523" y="2814043"/>
            <a:ext cx="905216" cy="1456218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9091523" y="4073474"/>
            <a:ext cx="905216" cy="19678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851" b="1">
                <a:solidFill>
                  <a:srgbClr val="FFFFFF"/>
                </a:solidFill>
                <a:latin typeface="Yu Gothic UI"/>
                <a:ea typeface="Yu Gothic UI"/>
              </a:rPr>
              <a:t>Compat 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929" y="2144969"/>
            <a:ext cx="8146949" cy="629715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FrameworkOnCore の System.Web のコア ― 全種類で共通(referencesource の移植)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1965" y="2361434"/>
            <a:ext cx="1693591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HttpApplication・パイプライン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15074" y="2361434"/>
            <a:ext cx="1538622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HTTP モジュール・ハンドラー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83215" y="2361434"/>
            <a:ext cx="1874388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ルーティング(System.Web.Routing)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87121" y="2361434"/>
            <a:ext cx="1254512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セッション・キャッシュ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1965" y="2558220"/>
            <a:ext cx="1977701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フォーム認証・メンバーシップ・ロール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499185" y="2558220"/>
            <a:ext cx="1362990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web.config のセクション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91693" y="2558220"/>
            <a:ext cx="2153333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Compilers(実行時コンパイル + 書き換え)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929" y="2814043"/>
            <a:ext cx="5470657" cy="610037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IIS 互換ミドルウェア(FrameworkOnCore。IIS と同じ順、既定は IIS 互換)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91965" y="3030507"/>
            <a:ext cx="551985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W3C ログ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73468" y="3030507"/>
            <a:ext cx="1590278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応答ヘッダー(customHeaders)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93265" y="3030507"/>
            <a:ext cx="324697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圧縮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047480" y="3030507"/>
            <a:ext cx="1476634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エラー ページ(httpErrors)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53633" y="3030507"/>
            <a:ext cx="743113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URL Rewrite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1965" y="3227294"/>
            <a:ext cx="799936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httpRedirect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21419" y="3227294"/>
            <a:ext cx="2700890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既定のドキュメント・静的ファイル・フォルダーの一覧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051828" y="3227294"/>
            <a:ext cx="634635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セッション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2929" y="3453598"/>
            <a:ext cx="5470657" cy="3935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作業プロセス(FrameworkOnCore。アプリケーション プールの役目)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1965" y="3670063"/>
            <a:ext cx="1740082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web.config・bin の変更で再起動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261565" y="3670063"/>
            <a:ext cx="1171861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bin のコピーから実行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462945" y="3670063"/>
            <a:ext cx="1755579" cy="167268"/>
          </a:xfrm>
          <a:prstGeom prst="roundRect">
            <a:avLst>
              <a:gd name="adj" fmla="val 18000"/>
            </a:avLst>
          </a:prstGeom>
          <a:solidFill>
            <a:srgbClr val="F8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再起動中の要求を待たせる(Linux)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2929" y="3876688"/>
            <a:ext cx="5470657" cy="393572"/>
          </a:xfrm>
          <a:prstGeom prst="rect">
            <a:avLst/>
          </a:prstGeom>
          <a:solidFill>
            <a:srgbClr val="3B7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ASP.NET Core(Microsoft)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91965" y="4093153"/>
            <a:ext cx="1740082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Kestrel(.NET の上のライブラリ)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261565" y="4093153"/>
            <a:ext cx="1461137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ミドルウェアのパイプライン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752221" y="4093153"/>
            <a:ext cx="851592" cy="167268"/>
          </a:xfrm>
          <a:prstGeom prst="roundRect">
            <a:avLst>
              <a:gd name="adj" fmla="val 18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構成・ログ・DI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034117" y="3896367"/>
            <a:ext cx="1656448" cy="196786"/>
          </a:xfrm>
          <a:prstGeom prst="roundRect">
            <a:avLst>
              <a:gd name="adj" fmla="val 18000"/>
            </a:avLst>
          </a:prstGeom>
          <a:solidFill>
            <a:srgbClr val="F2C200"/>
          </a:solidFill>
          <a:ln w="1474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ctr"/>
            <a:r>
              <a:rPr sz="851" b="1">
                <a:solidFill>
                  <a:srgbClr val="333333"/>
                </a:solidFill>
                <a:latin typeface="Yu Gothic UI"/>
                <a:ea typeface="Yu Gothic UI"/>
              </a:rPr>
              <a:t>HTTP サーバー(要求を受ける)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2944" y="2814043"/>
            <a:ext cx="3109222" cy="1456218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ライブラリの移植・代わり ― 全種類で共通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001979" y="3030507"/>
            <a:ext cx="949739" cy="167268"/>
          </a:xfrm>
          <a:prstGeom prst="roundRect">
            <a:avLst>
              <a:gd name="adj" fmla="val 18000"/>
            </a:avLst>
          </a:prstGeom>
          <a:solidFill>
            <a:srgbClr val="FB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SqlClient(移植)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81237" y="3030507"/>
            <a:ext cx="1063383" cy="167268"/>
          </a:xfrm>
          <a:prstGeom prst="roundRect">
            <a:avLst>
              <a:gd name="adj" fmla="val 18000"/>
            </a:avLst>
          </a:prstGeom>
          <a:solidFill>
            <a:srgbClr val="FB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LINQ to SQL(移植)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074138" y="3030507"/>
            <a:ext cx="629469" cy="167268"/>
          </a:xfrm>
          <a:prstGeom prst="roundRect">
            <a:avLst>
              <a:gd name="adj" fmla="val 18000"/>
            </a:avLst>
          </a:prstGeom>
          <a:solidFill>
            <a:srgbClr val="FB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EF4 → EF6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01979" y="3227294"/>
            <a:ext cx="1471469" cy="167268"/>
          </a:xfrm>
          <a:prstGeom prst="roundRect">
            <a:avLst>
              <a:gd name="adj" fmla="val 18000"/>
            </a:avLst>
          </a:prstGeom>
          <a:solidFill>
            <a:srgbClr val="FB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Drawing.Common(Linux 版)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02966" y="3227294"/>
            <a:ext cx="1290671" cy="167268"/>
          </a:xfrm>
          <a:prstGeom prst="roundRect">
            <a:avLst>
              <a:gd name="adj" fmla="val 18000"/>
            </a:avLst>
          </a:prstGeom>
          <a:solidFill>
            <a:srgbClr val="FB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BinaryFormatter(互換)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001979" y="3424080"/>
            <a:ext cx="1884720" cy="167268"/>
          </a:xfrm>
          <a:prstGeom prst="roundRect">
            <a:avLst>
              <a:gd name="adj" fmla="val 18000"/>
            </a:avLst>
          </a:prstGeom>
          <a:solidFill>
            <a:srgbClr val="FB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構成(System.Configuration・移植)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2929" y="4309618"/>
            <a:ext cx="4683512" cy="432929"/>
          </a:xfrm>
          <a:prstGeom prst="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.NET 10 クラスライブラリ(そのまま)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91965" y="4526083"/>
            <a:ext cx="743113" cy="167268"/>
          </a:xfrm>
          <a:prstGeom prst="roundRect">
            <a:avLst>
              <a:gd name="adj" fmla="val 18000"/>
            </a:avLst>
          </a:prstGeom>
          <a:solidFill>
            <a:srgbClr val="EF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System.Data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264597" y="4526083"/>
            <a:ext cx="686291" cy="167268"/>
          </a:xfrm>
          <a:prstGeom prst="roundRect">
            <a:avLst>
              <a:gd name="adj" fmla="val 18000"/>
            </a:avLst>
          </a:prstGeom>
          <a:solidFill>
            <a:srgbClr val="EF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System.Xml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980407" y="4526083"/>
            <a:ext cx="1027224" cy="167268"/>
          </a:xfrm>
          <a:prstGeom prst="roundRect">
            <a:avLst>
              <a:gd name="adj" fmla="val 18000"/>
            </a:avLst>
          </a:prstGeom>
          <a:solidFill>
            <a:srgbClr val="EF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System.Text.Json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037149" y="4526083"/>
            <a:ext cx="970402" cy="167268"/>
          </a:xfrm>
          <a:prstGeom prst="roundRect">
            <a:avLst>
              <a:gd name="adj" fmla="val 18000"/>
            </a:avLst>
          </a:prstGeom>
          <a:solidFill>
            <a:srgbClr val="EF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System.Net.Http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55799" y="4309618"/>
            <a:ext cx="4840941" cy="432929"/>
          </a:xfrm>
          <a:prstGeom prst="rect">
            <a:avLst/>
          </a:prstGeom>
          <a:solidFill>
            <a:srgbClr val="3AA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FrameworkOnCore.Compat ― CoreLib の代わりにアプリが呼ぶ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214835" y="4526083"/>
            <a:ext cx="1027224" cy="167268"/>
          </a:xfrm>
          <a:prstGeom prst="roundRect">
            <a:avLst>
              <a:gd name="adj" fmla="val 18000"/>
            </a:avLst>
          </a:prstGeom>
          <a:solidFill>
            <a:srgbClr val="E7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FrameworkNumbers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271577" y="4526083"/>
            <a:ext cx="913580" cy="167268"/>
          </a:xfrm>
          <a:prstGeom prst="roundRect">
            <a:avLst>
              <a:gd name="adj" fmla="val 18000"/>
            </a:avLst>
          </a:prstGeom>
          <a:solidFill>
            <a:srgbClr val="E7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FrameworkFiles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214675" y="4526083"/>
            <a:ext cx="1084046" cy="167268"/>
          </a:xfrm>
          <a:prstGeom prst="roundRect">
            <a:avLst>
              <a:gd name="adj" fmla="val 18000"/>
            </a:avLst>
          </a:prstGeom>
          <a:solidFill>
            <a:srgbClr val="E7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FrameworkCultures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328239" y="4526083"/>
            <a:ext cx="970402" cy="167268"/>
          </a:xfrm>
          <a:prstGeom prst="roundRect">
            <a:avLst>
              <a:gd name="adj" fmla="val 18000"/>
            </a:avLst>
          </a:prstGeom>
          <a:solidFill>
            <a:srgbClr val="E7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VisualBasicText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32929" y="4781905"/>
            <a:ext cx="9563810" cy="452608"/>
          </a:xfrm>
          <a:prstGeom prst="rect">
            <a:avLst/>
          </a:prstGeom>
          <a:solidFill>
            <a:srgbClr val="3E2470"/>
          </a:solidFill>
          <a:ln w="39329">
            <a:solidFill>
              <a:srgbClr val="F2C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System.Private.CoreLib + CoreCLR(一組)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91965" y="4998370"/>
            <a:ext cx="2628572" cy="167268"/>
          </a:xfrm>
          <a:prstGeom prst="roundRect">
            <a:avLst>
              <a:gd name="adj" fmla="val 18000"/>
            </a:avLst>
          </a:prstGeom>
          <a:solidFill>
            <a:srgbClr val="E8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.NET のまま(ASP.NET Core は .NET の動きが前提)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150055" y="4998370"/>
            <a:ext cx="2432277" cy="167268"/>
          </a:xfrm>
          <a:prstGeom prst="roundRect">
            <a:avLst>
              <a:gd name="adj" fmla="val 18000"/>
            </a:avLst>
          </a:prstGeom>
          <a:solidFill>
            <a:srgbClr val="E8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アプリの呼び出しは Compat に書き換えて避ける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461807" y="4831101"/>
            <a:ext cx="1436539" cy="196786"/>
          </a:xfrm>
          <a:prstGeom prst="roundRect">
            <a:avLst>
              <a:gd name="adj" fmla="val 18000"/>
            </a:avLst>
          </a:prstGeom>
          <a:solidFill>
            <a:srgbClr val="D32F2F"/>
          </a:solidFill>
          <a:ln w="1474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ctr"/>
            <a:r>
              <a:rPr sz="851" b="1">
                <a:solidFill>
                  <a:srgbClr val="FFFFFF"/>
                </a:solidFill>
                <a:latin typeface="Yu Gothic UI"/>
                <a:ea typeface="Yu Gothic UI"/>
              </a:rPr>
              <a:t>例外: 差し替え不可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32929" y="5273870"/>
            <a:ext cx="4781905" cy="432929"/>
          </a:xfrm>
          <a:prstGeom prst="rect">
            <a:avLst/>
          </a:prstGeom>
          <a:solidFill>
            <a:srgbClr val="2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プロセスを載せる(Windows)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91965" y="5490335"/>
            <a:ext cx="2892019" cy="167268"/>
          </a:xfrm>
          <a:prstGeom prst="roundRect">
            <a:avLst>
              <a:gd name="adj" fmla="val 18000"/>
            </a:avLst>
          </a:prstGeom>
          <a:solidFill>
            <a:srgbClr val="E5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IIS + ANCM(任意): Kestrel に転送する・.NET を載せる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254192" y="5273870"/>
            <a:ext cx="4742548" cy="432929"/>
          </a:xfrm>
          <a:prstGeom prst="rect">
            <a:avLst/>
          </a:prstGeom>
          <a:solidFill>
            <a:srgbClr val="2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プロセスを載せる(Linux)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313228" y="5490335"/>
            <a:ext cx="960070" cy="167268"/>
          </a:xfrm>
          <a:prstGeom prst="roundRect">
            <a:avLst>
              <a:gd name="adj" fmla="val 18000"/>
            </a:avLst>
          </a:prstGeom>
          <a:solidFill>
            <a:srgbClr val="E5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Docker・systemd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2929" y="5746157"/>
            <a:ext cx="4781905" cy="432929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Windows Server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91965" y="5962622"/>
            <a:ext cx="345359" cy="167268"/>
          </a:xfrm>
          <a:prstGeom prst="roundRect">
            <a:avLst>
              <a:gd name="adj" fmla="val 18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NTFS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66843" y="5962622"/>
            <a:ext cx="288537" cy="167268"/>
          </a:xfrm>
          <a:prstGeom prst="roundRect">
            <a:avLst>
              <a:gd name="adj" fmla="val 18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NLS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184899" y="5962622"/>
            <a:ext cx="737948" cy="167268"/>
          </a:xfrm>
          <a:prstGeom prst="roundRect">
            <a:avLst>
              <a:gd name="adj" fmla="val 18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タイムゾーン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54192" y="5746157"/>
            <a:ext cx="4742548" cy="432929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Linux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313228" y="5962622"/>
            <a:ext cx="619138" cy="167268"/>
          </a:xfrm>
          <a:prstGeom prst="roundRect">
            <a:avLst>
              <a:gd name="adj" fmla="val 18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ext4・xfs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961884" y="5962622"/>
            <a:ext cx="288537" cy="167268"/>
          </a:xfrm>
          <a:prstGeom prst="roundRect">
            <a:avLst>
              <a:gd name="adj" fmla="val 18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ICU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279940" y="5962622"/>
            <a:ext cx="1125371" cy="167268"/>
          </a:xfrm>
          <a:prstGeom prst="roundRect">
            <a:avLst>
              <a:gd name="adj" fmla="val 18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TZ = 元のサーバーの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434829" y="5962622"/>
            <a:ext cx="686291" cy="167268"/>
          </a:xfrm>
          <a:prstGeom prst="roundRect">
            <a:avLst>
              <a:gd name="adj" fmla="val 18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libgdiplus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32929" y="6218444"/>
            <a:ext cx="9563810" cy="216464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サーバー・コンテナ・クラウド(x64・ARM64)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035" y="1062645"/>
            <a:ext cx="314857" cy="3207615"/>
          </a:xfrm>
          <a:prstGeom prst="rect">
            <a:avLst/>
          </a:prstGeom>
          <a:solidFill>
            <a:srgbClr val="3AA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 vert="eaVert"/>
          <a:lstStyle/>
          <a:p>
            <a:pPr algn="ctr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独自の翻訳(各アセンブリのサテライト)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035" y="4309618"/>
            <a:ext cx="314857" cy="1869469"/>
          </a:xfrm>
          <a:prstGeom prst="rect">
            <a:avLst/>
          </a:prstGeom>
          <a:solidFill>
            <a:srgbClr val="3AA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 vert="eaVert"/>
          <a:lstStyle/>
          <a:p>
            <a:pPr algn="ctr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カルチャ プロファイル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95133" y="393572"/>
            <a:ext cx="2046576" cy="5942944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10154169" y="452608"/>
            <a:ext cx="1928505" cy="4132510"/>
          </a:xfrm>
          <a:prstGeom prst="rect">
            <a:avLst/>
          </a:prstGeom>
          <a:solidFill>
            <a:srgbClr val="3AA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FrameworkOnCore Studio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213205" y="669073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E7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① 読み込み・元のビルド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0213205" y="865859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E7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② 解析(使っている API)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0213205" y="1062645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E7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③ 部品の選択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213205" y="1259431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E7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④ アプリの設定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0213205" y="1456218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E7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⑤ 変換(書き換え規則)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0213205" y="1653004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E7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⑥ 配置(Docker・systemd)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0213205" y="1849790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E7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ParityTest(IIS と比べる)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0213205" y="2046576"/>
            <a:ext cx="1810433" cy="167268"/>
          </a:xfrm>
          <a:prstGeom prst="roundRect">
            <a:avLst>
              <a:gd name="adj" fmla="val 18000"/>
            </a:avLst>
          </a:prstGeom>
          <a:solidFill>
            <a:srgbClr val="E7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l"/>
            <a:r>
              <a:rPr sz="812" b="1">
                <a:solidFill>
                  <a:srgbClr val="333333"/>
                </a:solidFill>
                <a:latin typeface="Yu Gothic UI"/>
                <a:ea typeface="Yu Gothic UI"/>
              </a:rPr>
              <a:t>capture-culture・capture-iis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154169" y="4644154"/>
            <a:ext cx="1928505" cy="1672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851" b="0">
                <a:solidFill>
                  <a:srgbClr val="333333"/>
                </a:solidFill>
                <a:latin typeface="Yu Gothic UI"/>
                <a:ea typeface="Yu Gothic UI"/>
              </a:rPr>
              <a:t>見方: 縦に並ぶ箱は、その上のアプリの種類が使う部品。横に広い箱は全種類で共通。右の階段は、アプリが直接使う層(段ごとにその下の層に載る)。左の縦の帯は、いくつもの層の部品に付くもの。黄色の印は要求を受ける HTTP サーバー:IIS は .NET を載せる側、Kestrel は .NET の上のライブラリなので、段が違う。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7750" y="6572659"/>
            <a:ext cx="137750" cy="137750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22" name="Rectangle 121"/>
          <p:cNvSpPr/>
          <p:nvPr/>
        </p:nvSpPr>
        <p:spPr>
          <a:xfrm>
            <a:off x="295179" y="6533302"/>
            <a:ext cx="983931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お客様のアプリ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97182" y="6572659"/>
            <a:ext cx="137750" cy="13775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24" name="Rectangle 123"/>
          <p:cNvSpPr/>
          <p:nvPr/>
        </p:nvSpPr>
        <p:spPr>
          <a:xfrm>
            <a:off x="1554611" y="6533302"/>
            <a:ext cx="1497543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FrameworkOnCore(移植)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170226" y="6572659"/>
            <a:ext cx="137750" cy="13775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26" name="Rectangle 125"/>
          <p:cNvSpPr/>
          <p:nvPr/>
        </p:nvSpPr>
        <p:spPr>
          <a:xfrm>
            <a:off x="3327655" y="6533302"/>
            <a:ext cx="865859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移植・代わり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311586" y="6572659"/>
            <a:ext cx="137750" cy="137750"/>
          </a:xfrm>
          <a:prstGeom prst="rect">
            <a:avLst/>
          </a:prstGeom>
          <a:solidFill>
            <a:srgbClr val="3B7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28" name="Rectangle 127"/>
          <p:cNvSpPr/>
          <p:nvPr/>
        </p:nvSpPr>
        <p:spPr>
          <a:xfrm>
            <a:off x="4469015" y="6533302"/>
            <a:ext cx="741884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Microsoft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328971" y="6572659"/>
            <a:ext cx="137750" cy="137750"/>
          </a:xfrm>
          <a:prstGeom prst="rect">
            <a:avLst/>
          </a:prstGeom>
          <a:solidFill>
            <a:srgbClr val="3AA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30" name="Rectangle 129"/>
          <p:cNvSpPr/>
          <p:nvPr/>
        </p:nvSpPr>
        <p:spPr>
          <a:xfrm>
            <a:off x="5486400" y="6533302"/>
            <a:ext cx="865859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互換・ツール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470331" y="6572659"/>
            <a:ext cx="137750" cy="137750"/>
          </a:xfrm>
          <a:prstGeom prst="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32" name="Rectangle 131"/>
          <p:cNvSpPr/>
          <p:nvPr/>
        </p:nvSpPr>
        <p:spPr>
          <a:xfrm>
            <a:off x="6627760" y="6533302"/>
            <a:ext cx="417186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.NET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163018" y="6572659"/>
            <a:ext cx="137750" cy="137750"/>
          </a:xfrm>
          <a:prstGeom prst="rect">
            <a:avLst/>
          </a:prstGeom>
          <a:solidFill>
            <a:srgbClr val="3E2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34" name="Rectangle 133"/>
          <p:cNvSpPr/>
          <p:nvPr/>
        </p:nvSpPr>
        <p:spPr>
          <a:xfrm>
            <a:off x="7320447" y="6533302"/>
            <a:ext cx="1397182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CoreLib + ランタイム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835701" y="6572659"/>
            <a:ext cx="137750" cy="1377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36" name="Rectangle 135"/>
          <p:cNvSpPr/>
          <p:nvPr/>
        </p:nvSpPr>
        <p:spPr>
          <a:xfrm>
            <a:off x="8993130" y="6533302"/>
            <a:ext cx="287307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0">
                <a:solidFill>
                  <a:srgbClr val="333333"/>
                </a:solidFill>
                <a:latin typeface="Yu Gothic UI"/>
                <a:ea typeface="Yu Gothic UI"/>
              </a:rPr>
              <a:t>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071" y="39357"/>
            <a:ext cx="11964602" cy="3148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l"/>
            <a:r>
              <a:rPr sz="1625" b="1">
                <a:solidFill>
                  <a:srgbClr val="333333"/>
                </a:solidFill>
                <a:latin typeface="Yu Gothic UI"/>
                <a:ea typeface="Yu Gothic UI"/>
              </a:rPr>
              <a:t>CoreLib だけは例外: ランタイムと一組で、アプリから差し替えられない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750" y="452608"/>
            <a:ext cx="5805193" cy="3246972"/>
          </a:xfrm>
          <a:prstGeom prst="rect">
            <a:avLst/>
          </a:prstGeom>
          <a:solidFill>
            <a:srgbClr val="F4F8FC"/>
          </a:solidFill>
          <a:ln w="19664">
            <a:solidFill>
              <a:srgbClr val="3B7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255822" y="511644"/>
            <a:ext cx="5510014" cy="25582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1316" b="1">
                <a:solidFill>
                  <a:srgbClr val="3B73B9"/>
                </a:solidFill>
                <a:latin typeface="Yu Gothic UI"/>
                <a:ea typeface="Yu Gothic UI"/>
              </a:rPr>
              <a:t>普通のアセンブリ(例: System.Web)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358" y="905216"/>
            <a:ext cx="1967862" cy="491965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ctr"/>
            <a:r>
              <a:rPr sz="1161" b="1">
                <a:solidFill>
                  <a:srgbClr val="FFFFFF"/>
                </a:solidFill>
                <a:latin typeface="Yu Gothic UI"/>
                <a:ea typeface="Yu Gothic UI"/>
              </a:rPr>
              <a:t>アプリ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972" y="905216"/>
            <a:ext cx="2263041" cy="491965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ctr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FrameworkOnCore の System.Web</a:t>
            </a:r>
          </a:p>
          <a:p>
            <a:pPr algn="ctr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(referencesource の移植)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58220" y="1151199"/>
            <a:ext cx="669074" cy="0"/>
          </a:xfrm>
          <a:prstGeom prst="line">
            <a:avLst/>
          </a:prstGeom>
          <a:ln w="24580">
            <a:solidFill>
              <a:srgbClr val="3AA3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46972" y="1574289"/>
            <a:ext cx="2263041" cy="393572"/>
          </a:xfrm>
          <a:prstGeom prst="rect">
            <a:avLst/>
          </a:prstGeom>
          <a:solidFill>
            <a:srgbClr val="FFFFFF"/>
          </a:solidFill>
          <a:ln w="14748">
            <a:solidFill>
              <a:srgbClr val="BBBBBB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ctr"/>
            <a:r>
              <a:rPr sz="929" b="0">
                <a:solidFill>
                  <a:srgbClr val="999999"/>
                </a:solidFill>
                <a:latin typeface="Yu Gothic UI"/>
                <a:ea typeface="Yu Gothic UI"/>
              </a:rPr>
              <a:t>.NET の System.Web(型転送だけ)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6614" y="1574289"/>
            <a:ext cx="590358" cy="3935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ctr"/>
            <a:r>
              <a:rPr sz="2012" b="1">
                <a:solidFill>
                  <a:srgbClr val="D32F2F"/>
                </a:solidFill>
                <a:latin typeface="Yu Gothic UI"/>
                <a:ea typeface="Yu Gothic UI"/>
              </a:rPr>
              <a:t>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179" y="2105612"/>
            <a:ext cx="5510014" cy="15742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1161" b="0">
                <a:solidFill>
                  <a:srgbClr val="333333"/>
                </a:solidFill>
                <a:latin typeface="Yu Gothic UI"/>
                <a:ea typeface="Yu Gothic UI"/>
              </a:rPr>
              <a:t>・アプリと一緒に bin に置ける</a:t>
            </a:r>
          </a:p>
          <a:p>
            <a:pPr algn="l"/>
            <a:r>
              <a:rPr sz="1161" b="0">
                <a:solidFill>
                  <a:srgbClr val="333333"/>
                </a:solidFill>
                <a:latin typeface="Yu Gothic UI"/>
                <a:ea typeface="Yu Gothic UI"/>
              </a:rPr>
              <a:t>・同じ名前でも、アプリが選んだ版が読み込まれる(deps.json)</a:t>
            </a:r>
          </a:p>
          <a:p>
            <a:pPr algn="l"/>
            <a:r>
              <a:rPr sz="1161" b="0">
                <a:solidFill>
                  <a:srgbClr val="333333"/>
                </a:solidFill>
                <a:latin typeface="Yu Gothic UI"/>
                <a:ea typeface="Yu Gothic UI"/>
              </a:rPr>
              <a:t>→ referencesource の ASP.NET を移植して丸ごと差し替えた</a:t>
            </a:r>
          </a:p>
          <a:p>
            <a:pPr algn="l"/>
            <a:r>
              <a:rPr sz="1161" b="0">
                <a:solidFill>
                  <a:srgbClr val="333333"/>
                </a:solidFill>
                <a:latin typeface="Yu Gothic UI"/>
                <a:ea typeface="Yu Gothic UI"/>
              </a:rPr>
              <a:t>   (意地悪コーパスでも最初から一致)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39730" y="452608"/>
            <a:ext cx="5923265" cy="3246972"/>
          </a:xfrm>
          <a:prstGeom prst="rect">
            <a:avLst/>
          </a:prstGeom>
          <a:solidFill>
            <a:srgbClr val="FBF6EA"/>
          </a:solidFill>
          <a:ln w="29496">
            <a:solidFill>
              <a:srgbClr val="F2C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257802" y="511644"/>
            <a:ext cx="5706800" cy="25582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1316" b="1">
                <a:solidFill>
                  <a:srgbClr val="3E2470"/>
                </a:solidFill>
                <a:latin typeface="Yu Gothic UI"/>
                <a:ea typeface="Yu Gothic UI"/>
              </a:rPr>
              <a:t>System.Private.CoreLib(.NET Framework の mscorlib)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95552" y="905216"/>
            <a:ext cx="2459827" cy="905216"/>
          </a:xfrm>
          <a:prstGeom prst="rect">
            <a:avLst/>
          </a:prstGeom>
          <a:solidFill>
            <a:srgbClr val="3E2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ctr"/>
            <a:r>
              <a:rPr sz="1006" b="1">
                <a:solidFill>
                  <a:srgbClr val="FFFFFF"/>
                </a:solidFill>
                <a:latin typeface="Yu Gothic UI"/>
                <a:ea typeface="Yu Gothic UI"/>
              </a:rPr>
              <a:t>CoreLib(C#)</a:t>
            </a:r>
          </a:p>
          <a:p>
            <a:pPr algn="ctr"/>
            <a:r>
              <a:rPr sz="1006" b="1">
                <a:solidFill>
                  <a:srgbClr val="FFFFFF"/>
                </a:solidFill>
                <a:latin typeface="Yu Gothic UI"/>
                <a:ea typeface="Yu Gothic UI"/>
              </a:rPr>
              <a:t>object・string・double</a:t>
            </a:r>
          </a:p>
          <a:p>
            <a:pPr algn="ctr"/>
            <a:r>
              <a:rPr sz="1006" b="1">
                <a:solidFill>
                  <a:srgbClr val="FFFFFF"/>
                </a:solidFill>
                <a:latin typeface="Yu Gothic UI"/>
                <a:ea typeface="Yu Gothic UI"/>
              </a:rPr>
              <a:t>CultureInfo・Directory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55380" y="905216"/>
            <a:ext cx="2459827" cy="905216"/>
          </a:xfrm>
          <a:prstGeom prst="rect">
            <a:avLst/>
          </a:prstGeom>
          <a:solidFill>
            <a:srgbClr val="2B1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ctr"/>
            <a:r>
              <a:rPr sz="1006" b="1">
                <a:solidFill>
                  <a:srgbClr val="FFFFFF"/>
                </a:solidFill>
                <a:latin typeface="Yu Gothic UI"/>
                <a:ea typeface="Yu Gothic UI"/>
              </a:rPr>
              <a:t>CoreCLR(C++)</a:t>
            </a:r>
          </a:p>
          <a:p>
            <a:pPr algn="ctr"/>
            <a:r>
              <a:rPr sz="1006" b="1">
                <a:solidFill>
                  <a:srgbClr val="FFFFFF"/>
                </a:solidFill>
                <a:latin typeface="Yu Gothic UI"/>
                <a:ea typeface="Yu Gothic UI"/>
              </a:rPr>
              <a:t>JIT・GC・型の形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6628" y="787144"/>
            <a:ext cx="1377503" cy="236143"/>
          </a:xfrm>
          <a:prstGeom prst="roundRect">
            <a:avLst>
              <a:gd name="adj" fmla="val 18000"/>
            </a:avLst>
          </a:prstGeom>
          <a:solidFill>
            <a:srgbClr val="F2C200"/>
          </a:solidFill>
          <a:ln w="1474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ctr"/>
            <a:r>
              <a:rPr sz="929" b="1">
                <a:solidFill>
                  <a:srgbClr val="333333"/>
                </a:solidFill>
                <a:latin typeface="Yu Gothic UI"/>
                <a:ea typeface="Yu Gothic UI"/>
              </a:rPr>
              <a:t>一組でビルド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26456" y="806823"/>
            <a:ext cx="1338146" cy="236143"/>
          </a:xfrm>
          <a:prstGeom prst="roundRect">
            <a:avLst>
              <a:gd name="adj" fmla="val 18000"/>
            </a:avLst>
          </a:prstGeom>
          <a:solidFill>
            <a:srgbClr val="D32F2F"/>
          </a:solidFill>
          <a:ln w="1474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9196" rIns="49196" tIns="19678" bIns="19678"/>
          <a:lstStyle/>
          <a:p>
            <a:pPr algn="ctr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>差し替え不可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7159" y="1889147"/>
            <a:ext cx="5706800" cy="1810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1161" b="0">
                <a:solidFill>
                  <a:srgbClr val="333333"/>
                </a:solidFill>
                <a:latin typeface="Yu Gothic UI"/>
                <a:ea typeface="Yu Gothic UI"/>
              </a:rPr>
              <a:t>・ランタイムが string・object・Exception の形を直接読む</a:t>
            </a:r>
          </a:p>
          <a:p>
            <a:pPr algn="l"/>
            <a:r>
              <a:rPr sz="1161" b="0">
                <a:solidFill>
                  <a:srgbClr val="333333"/>
                </a:solidFill>
                <a:latin typeface="Yu Gothic UI"/>
                <a:ea typeface="Yu Gothic UI"/>
              </a:rPr>
              <a:t>・CoreLib がランタイムの C++ の関数を直接呼ぶ</a:t>
            </a:r>
          </a:p>
          <a:p>
            <a:pPr algn="l"/>
            <a:r>
              <a:rPr sz="1161" b="0">
                <a:solidFill>
                  <a:srgbClr val="333333"/>
                </a:solidFill>
                <a:latin typeface="Yu Gothic UI"/>
                <a:ea typeface="Yu Gothic UI"/>
              </a:rPr>
              <a:t>・JIT が一部のメソッドを特別扱いする</a:t>
            </a:r>
          </a:p>
          <a:p>
            <a:pPr algn="l"/>
            <a:r>
              <a:rPr sz="1161" b="0">
                <a:solidFill>
                  <a:srgbClr val="333333"/>
                </a:solidFill>
                <a:latin typeface="Yu Gothic UI"/>
                <a:ea typeface="Yu Gothic UI"/>
              </a:rPr>
              <a:t>・アプリより先に読み込まれ、1 プロセスに 1 つ(deps.json で選べない)</a:t>
            </a:r>
          </a:p>
          <a:p>
            <a:pPr algn="l"/>
            <a:r>
              <a:rPr sz="1161" b="0">
                <a:solidFill>
                  <a:srgbClr val="333333"/>
                </a:solidFill>
                <a:latin typeface="Yu Gothic UI"/>
                <a:ea typeface="Yu Gothic UI"/>
              </a:rPr>
              <a:t>・mscorlib も CLR 4 と一体(double の書式は clr.dll の C++)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750" y="3837331"/>
            <a:ext cx="11925245" cy="2617256"/>
          </a:xfrm>
          <a:prstGeom prst="rect">
            <a:avLst/>
          </a:prstGeom>
          <a:solidFill>
            <a:srgbClr val="F3FAF5"/>
          </a:solidFill>
          <a:ln w="19664">
            <a:solidFill>
              <a:srgbClr val="3AA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929" b="1">
                <a:solidFill>
                  <a:srgbClr val="FFFFFF"/>
                </a:solidFill>
                <a:latin typeface="Yu Gothic UI"/>
                <a:ea typeface="Yu Gothic U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255822" y="3896367"/>
            <a:ext cx="11610387" cy="25582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1316" b="1">
                <a:solidFill>
                  <a:srgbClr val="3AA357"/>
                </a:solidFill>
                <a:latin typeface="Yu Gothic UI"/>
                <a:ea typeface="Yu Gothic UI"/>
              </a:rPr>
              <a:t>そこで: CoreLib は .NET のまま、アプリの呼び出しだけを置き換える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572" y="4329296"/>
            <a:ext cx="2263041" cy="393572"/>
          </a:xfrm>
          <a:prstGeom prst="rect">
            <a:avLst/>
          </a:prstGeom>
          <a:solidFill>
            <a:srgbClr val="F3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ctr"/>
            <a:r>
              <a:rPr sz="1083" b="1">
                <a:solidFill>
                  <a:srgbClr val="FFFFFF"/>
                </a:solidFill>
                <a:latin typeface="Yu Gothic UI"/>
                <a:ea typeface="Yu Gothic UI"/>
              </a:rPr>
              <a:t>アプリのコード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51793" y="4329296"/>
            <a:ext cx="2263041" cy="393572"/>
          </a:xfrm>
          <a:prstGeom prst="rect">
            <a:avLst/>
          </a:prstGeom>
          <a:solidFill>
            <a:srgbClr val="FFFFFF"/>
          </a:solidFill>
          <a:ln w="1474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ctr"/>
            <a:r>
              <a:rPr sz="1083" b="1">
                <a:solidFill>
                  <a:srgbClr val="333333"/>
                </a:solidFill>
                <a:latin typeface="Yu Gothic UI"/>
                <a:ea typeface="Yu Gothic UI"/>
              </a:rPr>
              <a:t>price.ToString()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34513" y="4526083"/>
            <a:ext cx="669073" cy="0"/>
          </a:xfrm>
          <a:prstGeom prst="line">
            <a:avLst/>
          </a:prstGeom>
          <a:ln w="24580">
            <a:solidFill>
              <a:srgbClr val="3AA3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214835" y="4112832"/>
            <a:ext cx="885538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ctr"/>
            <a:r>
              <a:rPr sz="929" b="1">
                <a:solidFill>
                  <a:srgbClr val="3AA357"/>
                </a:solidFill>
                <a:latin typeface="Yu Gothic UI"/>
                <a:ea typeface="Yu Gothic UI"/>
              </a:rPr>
              <a:t>変換器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23265" y="4329296"/>
            <a:ext cx="3246972" cy="393572"/>
          </a:xfrm>
          <a:prstGeom prst="rect">
            <a:avLst/>
          </a:prstGeom>
          <a:solidFill>
            <a:srgbClr val="3AA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ctr"/>
            <a:r>
              <a:rPr sz="1083" b="1">
                <a:solidFill>
                  <a:srgbClr val="FFFFFF"/>
                </a:solidFill>
                <a:latin typeface="Yu Gothic UI"/>
                <a:ea typeface="Yu Gothic UI"/>
              </a:rPr>
              <a:t>FrameworkNumbers.ToString(price)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8309" y="4388332"/>
            <a:ext cx="2755007" cy="29517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1161" b="1">
                <a:solidFill>
                  <a:srgbClr val="333333"/>
                </a:solidFill>
                <a:latin typeface="Yu Gothic UI"/>
                <a:ea typeface="Yu Gothic UI"/>
              </a:rPr>
              <a:t>→ 0.3(.NET Framework と同じ)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572" y="4919655"/>
            <a:ext cx="2263041" cy="393572"/>
          </a:xfrm>
          <a:prstGeom prst="rect">
            <a:avLst/>
          </a:prstGeom>
          <a:solidFill>
            <a:srgbClr val="3B7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ctr"/>
            <a:r>
              <a:rPr sz="1083" b="1">
                <a:solidFill>
                  <a:srgbClr val="FFFFFF"/>
                </a:solidFill>
                <a:latin typeface="Yu Gothic UI"/>
                <a:ea typeface="Yu Gothic UI"/>
              </a:rPr>
              <a:t>ASP.NET Core・JSON など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51793" y="4919655"/>
            <a:ext cx="2263041" cy="393572"/>
          </a:xfrm>
          <a:prstGeom prst="rect">
            <a:avLst/>
          </a:prstGeom>
          <a:solidFill>
            <a:srgbClr val="FFFFFF"/>
          </a:solidFill>
          <a:ln w="1474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ctr"/>
            <a:r>
              <a:rPr sz="1083" b="1">
                <a:solidFill>
                  <a:srgbClr val="333333"/>
                </a:solidFill>
                <a:latin typeface="Yu Gothic UI"/>
                <a:ea typeface="Yu Gothic UI"/>
              </a:rPr>
              <a:t>double.ToString()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34513" y="5116441"/>
            <a:ext cx="669073" cy="0"/>
          </a:xfrm>
          <a:prstGeom prst="line">
            <a:avLst/>
          </a:prstGeom>
          <a:ln w="24580">
            <a:solidFill>
              <a:srgbClr val="8888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214835" y="4703190"/>
            <a:ext cx="885538" cy="216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ctr"/>
            <a:r>
              <a:rPr sz="929" b="1">
                <a:solidFill>
                  <a:srgbClr val="888888"/>
                </a:solidFill>
                <a:latin typeface="Yu Gothic UI"/>
                <a:ea typeface="Yu Gothic UI"/>
              </a:rPr>
              <a:t>そのまま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23265" y="4919655"/>
            <a:ext cx="3246972" cy="393572"/>
          </a:xfrm>
          <a:prstGeom prst="rect">
            <a:avLst/>
          </a:prstGeom>
          <a:solidFill>
            <a:srgbClr val="3E2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196" rIns="49196" tIns="19678" bIns="19678"/>
          <a:lstStyle/>
          <a:p>
            <a:pPr algn="ctr"/>
            <a:r>
              <a:rPr sz="1083" b="1">
                <a:solidFill>
                  <a:srgbClr val="FFFFFF"/>
                </a:solidFill>
                <a:latin typeface="Yu Gothic UI"/>
                <a:ea typeface="Yu Gothic UI"/>
              </a:rPr>
              <a:t>CoreLib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8309" y="4978691"/>
            <a:ext cx="2755007" cy="29517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1006" b="1">
                <a:solidFill>
                  <a:srgbClr val="333333"/>
                </a:solidFill>
                <a:latin typeface="Yu Gothic UI"/>
                <a:ea typeface="Yu Gothic UI"/>
              </a:rPr>
              <a:t>→ 0.30000000000000004(.NET の前提どおり)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572" y="5510014"/>
            <a:ext cx="11511994" cy="8855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196" rIns="49196" tIns="19678" bIns="19678"/>
          <a:lstStyle/>
          <a:p>
            <a:pPr algn="l"/>
            <a:r>
              <a:rPr sz="1083" b="0">
                <a:solidFill>
                  <a:srgbClr val="555555"/>
                </a:solidFill>
                <a:latin typeface="Yu Gothic UI"/>
                <a:ea typeface="Yu Gothic UI"/>
              </a:rPr>
              <a:t>CoreLib を自前で作り直す案は取らない: .NET 全体(毎月のセキュリティ更新、Windows・Linux・x64・ARM64)を自前で保守することになり、</a:t>
            </a:r>
          </a:p>
          <a:p>
            <a:pPr algn="l"/>
            <a:r>
              <a:rPr sz="1083" b="0">
                <a:solidFill>
                  <a:srgbClr val="555555"/>
                </a:solidFill>
                <a:latin typeface="Yu Gothic UI"/>
                <a:ea typeface="Yu Gothic UI"/>
              </a:rPr>
              <a:t>プロセス全体の動きが変わるので .NET 側の部品(ASP.NET Core、System.Text.Json など)を壊すおそれがある。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